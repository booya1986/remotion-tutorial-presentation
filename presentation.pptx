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28754" y="1028700"/>
            <a:ext cx="8534186" cy="4800600"/>
          </a:xfrm>
          <a:prstGeom prst="ellipse">
            <a:avLst/>
          </a:prstGeom>
          <a:ln>
            <a:noFill/>
          </a:ln>
          <a:gradFill rotWithShape="1">
            <a:gsLst>
              <a:gs pos="0">
                <a:srgbClr val="22C55E">
                  <a:alpha val="12000"/>
                </a:srgbClr>
              </a:gs>
              <a:gs pos="40000">
                <a:srgbClr val="22C55E">
                  <a:alpha val="3000"/>
                </a:srgbClr>
              </a:gs>
              <a:gs pos="100000">
                <a:srgbClr val="1B1B1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361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202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042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8833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238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0857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9262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7667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2881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286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691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500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905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3310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1715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852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692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533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373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14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9054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404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76809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15214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53619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192024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30428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268833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07238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45643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84048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22452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60857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499262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37667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76072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14476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52881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FROM CODE TO VIDEO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71600" y="246888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600" b="1">
                <a:solidFill>
                  <a:srgbClr val="DCDAD5"/>
                </a:solidFill>
                <a:latin typeface="Heebo"/>
              </a:rPr>
              <a:t>מהפכת יצירת הווידאו עם Remotion ו-Claude Code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28800" y="384048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3200"/>
              </a:lnSpc>
            </a:pPr>
            <a:r>
              <a:rPr sz="2000" b="0">
                <a:solidFill>
                  <a:srgbClr val="A09D96"/>
                </a:solidFill>
                <a:latin typeface="Heebo"/>
              </a:rPr>
              <a:t>אנימציה. גרפיקה. סאונד. קריינות.</a:t>
            </a:r>
          </a:p>
          <a:p>
            <a:pPr algn="ctr" rtl="1">
              <a:lnSpc>
                <a:spcPts val="3200"/>
              </a:lnSpc>
            </a:pPr>
            <a:r>
              <a:rPr sz="2000" b="0">
                <a:solidFill>
                  <a:srgbClr val="A09D96"/>
                </a:solidFill>
                <a:latin typeface="Heebo"/>
              </a:rPr>
              <a:t>הכל נבנה בקוד.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28754" y="1028700"/>
            <a:ext cx="8534186" cy="4800600"/>
          </a:xfrm>
          <a:prstGeom prst="ellipse">
            <a:avLst/>
          </a:prstGeom>
          <a:ln>
            <a:noFill/>
          </a:ln>
          <a:gradFill rotWithShape="1">
            <a:gsLst>
              <a:gs pos="0">
                <a:srgbClr val="22C55E">
                  <a:alpha val="12000"/>
                </a:srgbClr>
              </a:gs>
              <a:gs pos="40000">
                <a:srgbClr val="22C55E">
                  <a:alpha val="3000"/>
                </a:srgbClr>
              </a:gs>
              <a:gs pos="100000">
                <a:srgbClr val="1B1B1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361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202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042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8833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238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0857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9262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7667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2881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286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691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500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905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3310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1715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852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692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533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373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14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9054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404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76809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15214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53619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192024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30428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268833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07238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45643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84048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22452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60857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499262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37667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76072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14476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52881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31520" y="914400"/>
            <a:ext cx="4754880" cy="50292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68680" y="10058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4712" y="10058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80744" y="10058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28800" y="9601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MyVideo.tsx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" y="1234440"/>
            <a:ext cx="43891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0">
                <a:solidFill>
                  <a:srgbClr val="C5C1B9"/>
                </a:solidFill>
                <a:latin typeface="Consolas"/>
              </a:rPr>
              <a:t>import { Composition } from 'remotion'
import { useCurrentFrame } from 'remotion'
import { interpolate } from 'remotion'
export const MyVideo = () =&gt; {
  const frame = useCurrentFrame()
  const opacity = interpolate(
    frame, [0, 30], [0, 1]
  )
  return &lt;AbsoluteFill style={{opacity}} /&gt;
}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5760720" y="2926080"/>
            <a:ext cx="731520" cy="5486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766560" y="914400"/>
            <a:ext cx="4754880" cy="50292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903720" y="10058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59752" y="10058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415784" y="10058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132320" y="14630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503920" y="14630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875520" y="14630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132320" y="28346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8503920" y="28346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875520" y="28346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40880" y="5303520"/>
            <a:ext cx="4206240" cy="137160"/>
          </a:xfrm>
          <a:prstGeom prst="roundRect">
            <a:avLst>
              <a:gd name="adj" fmla="val 5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412480" y="5257800"/>
            <a:ext cx="73152" cy="228600"/>
          </a:xfrm>
          <a:prstGeom prst="roundRect">
            <a:avLst>
              <a:gd name="adj" fmla="val 5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28754" y="1028700"/>
            <a:ext cx="8534186" cy="4800600"/>
          </a:xfrm>
          <a:prstGeom prst="ellipse">
            <a:avLst/>
          </a:prstGeom>
          <a:ln>
            <a:noFill/>
          </a:ln>
          <a:gradFill rotWithShape="1">
            <a:gsLst>
              <a:gs pos="0">
                <a:srgbClr val="22C55E">
                  <a:alpha val="12000"/>
                </a:srgbClr>
              </a:gs>
              <a:gs pos="40000">
                <a:srgbClr val="22C55E">
                  <a:alpha val="3000"/>
                </a:srgbClr>
              </a:gs>
              <a:gs pos="100000">
                <a:srgbClr val="1B1B1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361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202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042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8833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238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0857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9262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7667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2881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286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691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500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905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3310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1715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852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692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533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373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14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9054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404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76809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15214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53619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192024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30428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268833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07238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45643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84048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22452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60857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499262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37667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76072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14476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52881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1">
                <a:solidFill>
                  <a:srgbClr val="22C55E"/>
                </a:solidFill>
                <a:latin typeface="Heebo"/>
              </a:rPr>
              <a:t>THE PROBLEM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0" y="1920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DCDAD5"/>
                </a:solidFill>
                <a:latin typeface="Heebo"/>
              </a:rPr>
              <a:t>לערוך וידאו זה... קשה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0" y="2834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22C55E"/>
                </a:solidFill>
                <a:latin typeface="Heebo"/>
              </a:rPr>
              <a:t>טיימליין. ליירים. אפקטים. אינסוף קליקים.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34747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0">
                <a:solidFill>
                  <a:srgbClr val="A09D96"/>
                </a:solidFill>
                <a:latin typeface="Heebo"/>
              </a:rPr>
              <a:t>עריכת וידאו קלאסית היא ידנית. חוזרת על עצמה. ולא סקיילבילית.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0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0312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2608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4904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949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5087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VIDEO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280160" y="1463040"/>
            <a:ext cx="1106424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2537460" y="1463040"/>
            <a:ext cx="1357884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995928" y="1463040"/>
            <a:ext cx="905256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102352" y="1463040"/>
            <a:ext cx="1005840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20116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AUDIO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280160" y="1965960"/>
            <a:ext cx="5029200" cy="411480"/>
          </a:xfrm>
          <a:prstGeom prst="roundRect">
            <a:avLst>
              <a:gd name="adj" fmla="val 15000"/>
            </a:avLst>
          </a:prstGeom>
          <a:solidFill>
            <a:srgbClr val="22C55E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25146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TEXT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783080" y="2468880"/>
            <a:ext cx="905256" cy="411480"/>
          </a:xfrm>
          <a:prstGeom prst="roundRect">
            <a:avLst>
              <a:gd name="adj" fmla="val 15000"/>
            </a:avLst>
          </a:prstGeom>
          <a:solidFill>
            <a:srgbClr val="F59E0B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3090672" y="2468880"/>
            <a:ext cx="704088" cy="411480"/>
          </a:xfrm>
          <a:prstGeom prst="roundRect">
            <a:avLst>
              <a:gd name="adj" fmla="val 15000"/>
            </a:avLst>
          </a:prstGeom>
          <a:solidFill>
            <a:srgbClr val="F59E0B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4247388" y="2468880"/>
            <a:ext cx="1106424" cy="411480"/>
          </a:xfrm>
          <a:prstGeom prst="roundRect">
            <a:avLst>
              <a:gd name="adj" fmla="val 15000"/>
            </a:avLst>
          </a:prstGeom>
          <a:solidFill>
            <a:srgbClr val="F59E0B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7200" y="301752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FX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632204" y="2971800"/>
            <a:ext cx="553212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2889504" y="2971800"/>
            <a:ext cx="452628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895344" y="2971800"/>
            <a:ext cx="653796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4850892" y="2971800"/>
            <a:ext cx="502920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7200" y="352044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MUSIC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280160" y="3474720"/>
            <a:ext cx="2112264" cy="411480"/>
          </a:xfrm>
          <a:prstGeom prst="roundRect">
            <a:avLst>
              <a:gd name="adj" fmla="val 15000"/>
            </a:avLst>
          </a:prstGeom>
          <a:solidFill>
            <a:srgbClr val="EC4899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643884" y="3474720"/>
            <a:ext cx="1508760" cy="411480"/>
          </a:xfrm>
          <a:prstGeom prst="roundRect">
            <a:avLst>
              <a:gd name="adj" fmla="val 15000"/>
            </a:avLst>
          </a:prstGeom>
          <a:solidFill>
            <a:srgbClr val="EC4899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57200" y="40233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B-ROLL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531620" y="3977640"/>
            <a:ext cx="804672" cy="411480"/>
          </a:xfrm>
          <a:prstGeom prst="roundRect">
            <a:avLst>
              <a:gd name="adj" fmla="val 15000"/>
            </a:avLst>
          </a:prstGeom>
          <a:solidFill>
            <a:srgbClr val="06B6D4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2889504" y="3977640"/>
            <a:ext cx="1005840" cy="411480"/>
          </a:xfrm>
          <a:prstGeom prst="roundRect">
            <a:avLst>
              <a:gd name="adj" fmla="val 15000"/>
            </a:avLst>
          </a:prstGeom>
          <a:solidFill>
            <a:srgbClr val="06B6D4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247388" y="3977640"/>
            <a:ext cx="653796" cy="411480"/>
          </a:xfrm>
          <a:prstGeom prst="roundRect">
            <a:avLst>
              <a:gd name="adj" fmla="val 15000"/>
            </a:avLst>
          </a:prstGeom>
          <a:solidFill>
            <a:srgbClr val="06B6D4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040380" y="1371600"/>
            <a:ext cx="18288" cy="3200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28754" y="1028700"/>
            <a:ext cx="8534186" cy="4800600"/>
          </a:xfrm>
          <a:prstGeom prst="ellipse">
            <a:avLst/>
          </a:prstGeom>
          <a:ln>
            <a:noFill/>
          </a:ln>
          <a:gradFill rotWithShape="1">
            <a:gsLst>
              <a:gs pos="0">
                <a:srgbClr val="22C55E">
                  <a:alpha val="12000"/>
                </a:srgbClr>
              </a:gs>
              <a:gs pos="40000">
                <a:srgbClr val="22C55E">
                  <a:alpha val="3000"/>
                </a:srgbClr>
              </a:gs>
              <a:gs pos="100000">
                <a:srgbClr val="1B1B1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361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202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042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8833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238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0857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9262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7667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2881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286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691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500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905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3310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1715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852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692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533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373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14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9054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404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76809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15214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53619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192024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30428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268833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07238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45643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84048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22452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60857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499262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37667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76072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14476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52881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THE SOLUTION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0" y="914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200" b="1">
                <a:solidFill>
                  <a:srgbClr val="DCDAD5"/>
                </a:solidFill>
                <a:latin typeface="Heebo"/>
              </a:rPr>
              <a:t>מה זה Remotion?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0" y="15544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800" b="0">
                <a:solidFill>
                  <a:srgbClr val="22C55E"/>
                </a:solidFill>
                <a:latin typeface="Heebo"/>
              </a:rPr>
              <a:t>בונים וידאו עם React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28800" y="201168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Remotion מאפשר לבנות וידאו באמצעות קוד. קומפוננטות. אנימציות. דינמיות מלאה.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2743200"/>
            <a:ext cx="6400800" cy="38404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94360" y="28346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50392" y="28346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06424" y="28346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54480" y="2788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MyComp.tsx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3063240"/>
            <a:ext cx="60350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C5C1B9"/>
                </a:solidFill>
                <a:latin typeface="Consolas"/>
              </a:rPr>
              <a:t>import { AbsoluteFill, useCurrentFrame,
         interpolate } from 'remotion'
export const MyComp = () =&gt; {
  const frame = useCurrentFrame()
  return (&lt;AbsoluteFill style={{
    background: '#0d1117' }}&gt;
    &lt;div style={{ transform:
      `translateX(${frame*3}px)` }} /&gt;
    &lt;h1 style={{ opacity:
      interpolate(frame,[0,30],[0,1])
    }}&gt;Hello, Remotion&lt;/h1&gt;
    &lt;div style={{ transform:
      `scale(...)` }} /&gt;
  &lt;/AbsoluteFill&gt;)
}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0" y="2743200"/>
            <a:ext cx="4389120" cy="384048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452360" y="28346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708392" y="28346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964424" y="28346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124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Preview · frame 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46720" y="3474720"/>
            <a:ext cx="1097280" cy="7315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72400" y="43891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200" b="1">
                <a:solidFill>
                  <a:srgbClr val="FFFFFF"/>
                </a:solidFill>
                <a:latin typeface="Heebo"/>
              </a:rPr>
              <a:t>Hello, Remotion</a:t>
            </a:r>
          </a:p>
        </p:txBody>
      </p:sp>
      <p:sp>
        <p:nvSpPr>
          <p:cNvPr id="70" name="Oval 69"/>
          <p:cNvSpPr/>
          <p:nvPr/>
        </p:nvSpPr>
        <p:spPr>
          <a:xfrm>
            <a:off x="8961120" y="5212080"/>
            <a:ext cx="1097280" cy="10972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28754" y="1028700"/>
            <a:ext cx="8534186" cy="4800600"/>
          </a:xfrm>
          <a:prstGeom prst="ellipse">
            <a:avLst/>
          </a:prstGeom>
          <a:ln>
            <a:noFill/>
          </a:ln>
          <a:gradFill rotWithShape="1">
            <a:gsLst>
              <a:gs pos="0">
                <a:srgbClr val="22C55E">
                  <a:alpha val="12000"/>
                </a:srgbClr>
              </a:gs>
              <a:gs pos="40000">
                <a:srgbClr val="22C55E">
                  <a:alpha val="3000"/>
                </a:srgbClr>
              </a:gs>
              <a:gs pos="100000">
                <a:srgbClr val="1B1B1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361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202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042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8833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238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0857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9262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7667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2881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286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691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500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905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3310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1715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852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692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533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373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14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9054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404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76809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15214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53619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192024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30428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268833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07238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45643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84048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22452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60857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499262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37667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76072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14476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52881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מה אפשר לבנות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800" b="1">
                <a:solidFill>
                  <a:srgbClr val="DCDAD5"/>
                </a:solidFill>
                <a:latin typeface="Heebo"/>
              </a:rPr>
              <a:t>לא רק אנימציה. Remotion היא מערכת לייצור וידאו.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804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804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948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סרטוני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SHORTS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98688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8688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▁▃▅▇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7832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הדמיות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נתונים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13572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3572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2716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סרטוני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Promotion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8456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8456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CC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7600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הוספת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כתוביות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43340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43340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○○○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2484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אינטראקציות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בממשק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>
                <a:solidFill>
                  <a:srgbClr val="A09D96"/>
                </a:solidFill>
                <a:latin typeface="Heebo"/>
              </a:rPr>
              <a:t>וידאו שמבוסס על דאטה, פרומפט או API.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28754" y="1028700"/>
            <a:ext cx="8534186" cy="4800600"/>
          </a:xfrm>
          <a:prstGeom prst="ellipse">
            <a:avLst/>
          </a:prstGeom>
          <a:ln>
            <a:noFill/>
          </a:ln>
          <a:gradFill rotWithShape="1">
            <a:gsLst>
              <a:gs pos="0">
                <a:srgbClr val="22C55E">
                  <a:alpha val="12000"/>
                </a:srgbClr>
              </a:gs>
              <a:gs pos="40000">
                <a:srgbClr val="22C55E">
                  <a:alpha val="3000"/>
                </a:srgbClr>
              </a:gs>
              <a:gs pos="100000">
                <a:srgbClr val="1B1B1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361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202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042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8833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238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0857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9262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7667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2881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286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691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500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905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3310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1715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852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692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533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373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14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9054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404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76809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15214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53619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192024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30428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268833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07238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45643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84048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22452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60857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499262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37667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76072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14476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52881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למה עכשיו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כי בינה מלאכותית כותבת קוד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088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088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PROMPT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376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תאר מה אתה רוצה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3032607" y="3291840"/>
            <a:ext cx="457200" cy="3200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3552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3552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AI AGENT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1840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Claude Code מנתח ומתכנן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5867247" y="3291840"/>
            <a:ext cx="457200" cy="3200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37016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7016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CODE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304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קומפוננטות React + Remotion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8701887" y="3291840"/>
            <a:ext cx="457200" cy="3200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920480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0480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VIDEO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8768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MP4 מוכן לפרסום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303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>
                <a:solidFill>
                  <a:srgbClr val="A09D96"/>
                </a:solidFill>
                <a:latin typeface="Heebo"/>
              </a:rPr>
              <a:t>כל הצינור הזה רץ אוטומטית — אתה רק מתאר את הוידאו שאתה רוצה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28754" y="1028700"/>
            <a:ext cx="8534186" cy="4800600"/>
          </a:xfrm>
          <a:prstGeom prst="ellipse">
            <a:avLst/>
          </a:prstGeom>
          <a:ln>
            <a:noFill/>
          </a:ln>
          <a:gradFill rotWithShape="1">
            <a:gsLst>
              <a:gs pos="0">
                <a:srgbClr val="22C55E">
                  <a:alpha val="12000"/>
                </a:srgbClr>
              </a:gs>
              <a:gs pos="40000">
                <a:srgbClr val="22C55E">
                  <a:alpha val="3000"/>
                </a:srgbClr>
              </a:gs>
              <a:gs pos="100000">
                <a:srgbClr val="1B1B1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361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202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042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8833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238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0857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9262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7667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2881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286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691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500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905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3310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1715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852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692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533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373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14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9054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404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76809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15214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53619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192024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30428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268833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07238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45643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84048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22452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60857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499262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37667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76072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14476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52881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מה זה Claude Code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סוכן AI שכותב, מריץ ומרנדר קוד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2011680"/>
            <a:ext cx="6400800" cy="438912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94360" y="210312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50392" y="210312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06424" y="210312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554480" y="2057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claude — terminal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2331720"/>
            <a:ext cx="6035040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0">
                <a:solidFill>
                  <a:srgbClr val="C5C1B9"/>
                </a:solidFill>
                <a:latin typeface="Consolas"/>
              </a:rPr>
              <a:t>$ claude "Create a Remotion video with
  animated title and sound effects"
&gt; Creating project structure...
&gt; Writing Root.tsx...
&gt; Adding Composition with spring animation
&gt; Configuring audio track
&gt; Rendering video at 1920x1080, 30fps
✔ Video rendered: output/video.mp4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15200" y="2011680"/>
            <a:ext cx="4389120" cy="438912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8952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1">
                <a:solidFill>
                  <a:srgbClr val="666666"/>
                </a:solidFill>
                <a:latin typeface="Consolas"/>
              </a:rPr>
              <a:t>PROJECT FILES</a:t>
            </a:r>
          </a:p>
        </p:txBody>
      </p:sp>
      <p:sp>
        <p:nvSpPr>
          <p:cNvPr id="63" name="Oval 62"/>
          <p:cNvSpPr/>
          <p:nvPr/>
        </p:nvSpPr>
        <p:spPr>
          <a:xfrm>
            <a:off x="7680960" y="281635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5528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Root.tsx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entry point</a:t>
            </a:r>
          </a:p>
        </p:txBody>
      </p:sp>
      <p:sp>
        <p:nvSpPr>
          <p:cNvPr id="66" name="Oval 65"/>
          <p:cNvSpPr/>
          <p:nvPr/>
        </p:nvSpPr>
        <p:spPr>
          <a:xfrm>
            <a:off x="7680960" y="363931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55280" y="3520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Composition.tsx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80" y="3794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animated title</a:t>
            </a:r>
          </a:p>
        </p:txBody>
      </p:sp>
      <p:sp>
        <p:nvSpPr>
          <p:cNvPr id="69" name="Oval 68"/>
          <p:cNvSpPr/>
          <p:nvPr/>
        </p:nvSpPr>
        <p:spPr>
          <a:xfrm>
            <a:off x="7680960" y="446227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95528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AudioTrack.tsx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55280" y="4617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sound effects</a:t>
            </a:r>
          </a:p>
        </p:txBody>
      </p:sp>
      <p:sp>
        <p:nvSpPr>
          <p:cNvPr id="72" name="Oval 71"/>
          <p:cNvSpPr/>
          <p:nvPr/>
        </p:nvSpPr>
        <p:spPr>
          <a:xfrm>
            <a:off x="7680960" y="528523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955280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package.json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955280" y="5440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dependencies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28754" y="1028700"/>
            <a:ext cx="8534186" cy="4800600"/>
          </a:xfrm>
          <a:prstGeom prst="ellipse">
            <a:avLst/>
          </a:prstGeom>
          <a:ln>
            <a:noFill/>
          </a:ln>
          <a:gradFill rotWithShape="1">
            <a:gsLst>
              <a:gs pos="0">
                <a:srgbClr val="22C55E">
                  <a:alpha val="12000"/>
                </a:srgbClr>
              </a:gs>
              <a:gs pos="40000">
                <a:srgbClr val="22C55E">
                  <a:alpha val="3000"/>
                </a:srgbClr>
              </a:gs>
              <a:gs pos="100000">
                <a:srgbClr val="1B1B1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361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202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042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8833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238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0857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9262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7667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2881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286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691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500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905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3310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1715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852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692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533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373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14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9054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404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76809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15214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53619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192024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30428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268833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07238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45643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84048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22452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60857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499262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37667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76072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14476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52881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מה זה Skills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חבילות יכולות מובנות לסוכן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288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C5C1B9"/>
                </a:solidFill>
                <a:latin typeface="Consolas"/>
              </a:rPr>
              <a:t>Installing remotion-skill...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2286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1">
                <a:solidFill>
                  <a:srgbClr val="22C55E"/>
                </a:solidFill>
                <a:latin typeface="Consolas"/>
              </a:rPr>
              <a:t>100%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828800" y="2743200"/>
            <a:ext cx="8503920" cy="274320"/>
          </a:xfrm>
          <a:prstGeom prst="roundRect">
            <a:avLst>
              <a:gd name="adj" fmla="val 5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828800" y="2743200"/>
            <a:ext cx="8503920" cy="274320"/>
          </a:xfrm>
          <a:prstGeom prst="roundRect">
            <a:avLst>
              <a:gd name="adj" fmla="val 5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828800" y="31546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0">
                <a:solidFill>
                  <a:srgbClr val="22C55E"/>
                </a:solidFill>
                <a:latin typeface="Consolas"/>
              </a:rPr>
              <a:t>✔ Loaded 847 tools · ✔ Ready to render videos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39252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React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31276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Animation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23300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Render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5324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Audio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0" y="47548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300" b="0">
                <a:solidFill>
                  <a:srgbClr val="A09D96"/>
                </a:solidFill>
                <a:latin typeface="Consolas"/>
              </a:rPr>
              <a:t>remotion-dev/skills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71600" y="53035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>
                <a:solidFill>
                  <a:srgbClr val="A09D96"/>
                </a:solidFill>
                <a:latin typeface="Heebo"/>
              </a:rPr>
              <a:t>Skill = מאות כלים שמאפשרים לסוכן לעבוד עם Remotion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28754" y="1028700"/>
            <a:ext cx="8534186" cy="4800600"/>
          </a:xfrm>
          <a:prstGeom prst="ellipse">
            <a:avLst/>
          </a:prstGeom>
          <a:ln>
            <a:noFill/>
          </a:ln>
          <a:gradFill rotWithShape="1">
            <a:gsLst>
              <a:gs pos="0">
                <a:srgbClr val="22C55E">
                  <a:alpha val="12000"/>
                </a:srgbClr>
              </a:gs>
              <a:gs pos="40000">
                <a:srgbClr val="22C55E">
                  <a:alpha val="3000"/>
                </a:srgbClr>
              </a:gs>
              <a:gs pos="100000">
                <a:srgbClr val="1B1B1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361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202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042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8833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238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0857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9262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7667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2881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286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691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500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905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3310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1715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852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692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533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373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14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9054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404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76809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15214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53619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192024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30428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268833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07238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45643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84048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22452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60857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499262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37667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76072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14476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52881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איך זה הולך לעבוד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מה תדעו לעשות עד סוף הסרטון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84567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09847" y="21031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התקנת Remotion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84567" y="2788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09847" y="2788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יצירת פרויקט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84567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09847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בניית אנימציה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84567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09847" y="41605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הוספת סאונד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84567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09847" y="4846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רינדור ויצוא MP4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1">
                <a:solidFill>
                  <a:srgbClr val="22C55E"/>
                </a:solidFill>
                <a:latin typeface="Heebo"/>
              </a:rPr>
              <a:t>לא תיאוריה. בנייה אמיתית.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28754" y="1028700"/>
            <a:ext cx="8534186" cy="4800600"/>
          </a:xfrm>
          <a:prstGeom prst="ellipse">
            <a:avLst/>
          </a:prstGeom>
          <a:ln>
            <a:noFill/>
          </a:ln>
          <a:gradFill rotWithShape="1">
            <a:gsLst>
              <a:gs pos="0">
                <a:srgbClr val="22C55E">
                  <a:alpha val="12000"/>
                </a:srgbClr>
              </a:gs>
              <a:gs pos="40000">
                <a:srgbClr val="22C55E">
                  <a:alpha val="3000"/>
                </a:srgbClr>
              </a:gs>
              <a:gs pos="100000">
                <a:srgbClr val="1B1B1B">
                  <a:alpha val="0"/>
                </a:srgbClr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80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361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202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042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8833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238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4048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2452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0857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9262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7667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2881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286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691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8096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6500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4905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3310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1715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8524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69296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53344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37392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521440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905488" y="0"/>
            <a:ext cx="6350" cy="685800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404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76809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115214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153619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192024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230428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268833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307238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345643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384048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422452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460857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4992624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376672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760720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144768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528816"/>
            <a:ext cx="12191695" cy="6350"/>
          </a:xfrm>
          <a:prstGeom prst="rect">
            <a:avLst/>
          </a:prstGeom>
          <a:solidFill>
            <a:srgbClr val="FFFFFF">
              <a:alpha val="25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0" y="9144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>
                <a:solidFill>
                  <a:srgbClr val="22C55E"/>
                </a:solidFill>
                <a:latin typeface="Heebo"/>
              </a:rPr>
              <a:t>LIVE DEMO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57600" y="1828800"/>
            <a:ext cx="1371600" cy="13716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0" y="21031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4000" b="1">
                <a:solidFill>
                  <a:srgbClr val="FFFFFF"/>
                </a:solidFill>
                <a:latin typeface="Heebo"/>
              </a:rPr>
              <a:t>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0">
                <a:solidFill>
                  <a:srgbClr val="C5C1B9"/>
                </a:solidFill>
                <a:latin typeface="Heebo"/>
              </a:rPr>
              <a:t>Remotion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960" y="21031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600" b="0">
                <a:solidFill>
                  <a:srgbClr val="A09D96"/>
                </a:solidFill>
                <a:latin typeface="Heebo"/>
              </a:rPr>
              <a:t>×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1828800"/>
            <a:ext cx="1371600" cy="13716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0" y="21031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4000" b="1">
                <a:solidFill>
                  <a:srgbClr val="FFFFFF"/>
                </a:solidFill>
                <a:latin typeface="Heebo"/>
              </a:rPr>
              <a:t>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7512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0">
                <a:solidFill>
                  <a:srgbClr val="C5C1B9"/>
                </a:solidFill>
                <a:latin typeface="Heebo"/>
              </a:rPr>
              <a:t>Claude Code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0" y="41148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200" b="1">
                <a:solidFill>
                  <a:srgbClr val="DCDAD5"/>
                </a:solidFill>
                <a:latin typeface="Heebo"/>
              </a:rPr>
              <a:t>עכשיו בונים את זה ביחד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800" b="0">
                <a:solidFill>
                  <a:srgbClr val="A09D96"/>
                </a:solidFill>
                <a:latin typeface="Heebo"/>
              </a:rPr>
              <a:t>מפתחים את הסרטון הראשון שלכם — מפרומפט עד MP4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5669280" y="5577840"/>
            <a:ext cx="731520" cy="731520"/>
          </a:xfrm>
          <a:prstGeom prst="down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