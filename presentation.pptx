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0" y="2011680"/>
            <a:ext cx="667512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400" b="1">
                <a:solidFill>
                  <a:srgbClr val="22C55E"/>
                </a:solidFill>
                <a:latin typeface="Arial"/>
              </a:rPr>
              <a:t>From Code to Video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2560320"/>
            <a:ext cx="9418320" cy="13716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4000" b="1">
                <a:solidFill>
                  <a:srgbClr val="DCDAD5"/>
                </a:solidFill>
                <a:latin typeface="Arial"/>
              </a:rPr>
              <a:t>מהפכת יצירת הווידאו עם Remotion ו-Claude Code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0" y="4114800"/>
            <a:ext cx="7589520" cy="9144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2000" b="0">
                <a:solidFill>
                  <a:srgbClr val="A09D96"/>
                </a:solidFill>
                <a:latin typeface="Arial"/>
              </a:rPr>
              <a:t>אנימציה. גרפיקה. סאונד. קריינות.
הכל נבנה בקוד.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548640"/>
            <a:ext cx="5029200" cy="5760720"/>
          </a:xfrm>
          <a:prstGeom prst="rect">
            <a:avLst/>
          </a:prstGeom>
          <a:solidFill>
            <a:srgbClr val="0A0E14"/>
          </a:solidFill>
          <a:ln w="12700">
            <a:solidFill>
              <a:srgbClr val="3030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14400" y="685800"/>
            <a:ext cx="137160" cy="137160"/>
          </a:xfrm>
          <a:prstGeom prst="ellipse">
            <a:avLst/>
          </a:prstGeom>
          <a:solidFill>
            <a:srgbClr val="FF5F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143000" y="685800"/>
            <a:ext cx="137160" cy="137160"/>
          </a:xfrm>
          <a:prstGeom prst="ellipse">
            <a:avLst/>
          </a:prstGeom>
          <a:solidFill>
            <a:srgbClr val="FEB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371600" y="685800"/>
            <a:ext cx="137160" cy="137160"/>
          </a:xfrm>
          <a:prstGeom prst="ellipse">
            <a:avLst/>
          </a:prstGeom>
          <a:solidFill>
            <a:srgbClr val="28C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097280"/>
            <a:ext cx="4572000" cy="5029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200"/>
              </a:spcAft>
            </a:pPr>
            <a:r>
              <a:rPr sz="1100">
                <a:solidFill>
                  <a:srgbClr val="C5C1B9"/>
                </a:solidFill>
                <a:latin typeface="Consolas"/>
              </a:rPr>
              <a:t>import { Composition } from 'remotion'</a:t>
            </a:r>
          </a:p>
          <a:p>
            <a:pPr algn="l">
              <a:spcAft>
                <a:spcPts val="200"/>
              </a:spcAft>
            </a:pPr>
            <a:r>
              <a:rPr sz="1100">
                <a:solidFill>
                  <a:srgbClr val="C5C1B9"/>
                </a:solidFill>
                <a:latin typeface="Consolas"/>
              </a:rPr>
              <a:t>import { useCurrentFrame } from 'remotion'</a:t>
            </a:r>
          </a:p>
          <a:p>
            <a:pPr algn="l">
              <a:spcAft>
                <a:spcPts val="200"/>
              </a:spcAft>
            </a:pPr>
            <a:r>
              <a:rPr sz="1100">
                <a:solidFill>
                  <a:srgbClr val="C5C1B9"/>
                </a:solidFill>
                <a:latin typeface="Consolas"/>
              </a:rPr>
              <a:t>import { interpolate } from 'remotion'</a:t>
            </a:r>
          </a:p>
          <a:p>
            <a:pPr algn="l">
              <a:spcAft>
                <a:spcPts val="200"/>
              </a:spcAft>
            </a:pPr>
            <a:r>
              <a:rPr sz="1100">
                <a:solidFill>
                  <a:srgbClr val="C5C1B9"/>
                </a:solidFill>
                <a:latin typeface="Consolas"/>
              </a:rPr>
              <a:t/>
            </a:r>
          </a:p>
          <a:p>
            <a:pPr algn="l">
              <a:spcAft>
                <a:spcPts val="200"/>
              </a:spcAft>
            </a:pPr>
            <a:r>
              <a:rPr sz="1100">
                <a:solidFill>
                  <a:srgbClr val="C5C1B9"/>
                </a:solidFill>
                <a:latin typeface="Consolas"/>
              </a:rPr>
              <a:t>export const MyVideo = () =&gt; {</a:t>
            </a:r>
          </a:p>
          <a:p>
            <a:pPr algn="l">
              <a:spcAft>
                <a:spcPts val="200"/>
              </a:spcAft>
            </a:pPr>
            <a:r>
              <a:rPr sz="1100">
                <a:solidFill>
                  <a:srgbClr val="C5C1B9"/>
                </a:solidFill>
                <a:latin typeface="Consolas"/>
              </a:rPr>
              <a:t>  const frame = useCurrentFrame()</a:t>
            </a:r>
          </a:p>
          <a:p>
            <a:pPr algn="l">
              <a:spcAft>
                <a:spcPts val="200"/>
              </a:spcAft>
            </a:pPr>
            <a:r>
              <a:rPr sz="1100">
                <a:solidFill>
                  <a:srgbClr val="C5C1B9"/>
                </a:solidFill>
                <a:latin typeface="Consolas"/>
              </a:rPr>
              <a:t>  const opacity = interpolate(</a:t>
            </a:r>
          </a:p>
          <a:p>
            <a:pPr algn="l">
              <a:spcAft>
                <a:spcPts val="200"/>
              </a:spcAft>
            </a:pPr>
            <a:r>
              <a:rPr sz="1100">
                <a:solidFill>
                  <a:srgbClr val="C5C1B9"/>
                </a:solidFill>
                <a:latin typeface="Consolas"/>
              </a:rPr>
              <a:t>    frame, [0, 30], [0, 1]</a:t>
            </a:r>
          </a:p>
          <a:p>
            <a:pPr algn="l">
              <a:spcAft>
                <a:spcPts val="200"/>
              </a:spcAft>
            </a:pPr>
            <a:r>
              <a:rPr sz="1100">
                <a:solidFill>
                  <a:srgbClr val="C5C1B9"/>
                </a:solidFill>
                <a:latin typeface="Consolas"/>
              </a:rPr>
              <a:t>  )</a:t>
            </a:r>
          </a:p>
          <a:p>
            <a:pPr algn="l">
              <a:spcAft>
                <a:spcPts val="200"/>
              </a:spcAft>
            </a:pPr>
            <a:r>
              <a:rPr sz="1100">
                <a:solidFill>
                  <a:srgbClr val="C5C1B9"/>
                </a:solidFill>
                <a:latin typeface="Consolas"/>
              </a:rPr>
              <a:t>  return &lt;AbsoluteFill style={{opacity}} /&gt;</a:t>
            </a:r>
          </a:p>
          <a:p>
            <a:pPr algn="l">
              <a:spcAft>
                <a:spcPts val="200"/>
              </a:spcAft>
            </a:pPr>
            <a:r>
              <a:rPr sz="1100">
                <a:solidFill>
                  <a:srgbClr val="C5C1B9"/>
                </a:solidFill>
                <a:latin typeface="Consolas"/>
              </a:rPr>
              <a:t>}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577840" y="2926080"/>
            <a:ext cx="1097280" cy="54864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3200" b="1">
                <a:solidFill>
                  <a:srgbClr val="22C55E"/>
                </a:solidFill>
                <a:latin typeface="Arial"/>
              </a:rPr>
              <a:t>→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0" y="548640"/>
            <a:ext cx="5029200" cy="5760720"/>
          </a:xfrm>
          <a:prstGeom prst="rect">
            <a:avLst/>
          </a:prstGeom>
          <a:solidFill>
            <a:srgbClr val="0D1117"/>
          </a:solidFill>
          <a:ln w="12700">
            <a:solidFill>
              <a:srgbClr val="3030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0" y="640080"/>
            <a:ext cx="18288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>
                <a:solidFill>
                  <a:srgbClr val="22C55E"/>
                </a:solidFill>
                <a:latin typeface="Consolas"/>
              </a:rPr>
              <a:t>Preview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675120" y="1188720"/>
            <a:ext cx="1371600" cy="1371600"/>
          </a:xfrm>
          <a:prstGeom prst="round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8229600" y="1188720"/>
            <a:ext cx="1371600" cy="1371600"/>
          </a:xfrm>
          <a:prstGeom prst="round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9784080" y="1188720"/>
            <a:ext cx="1371600" cy="1371600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675120" y="2743200"/>
            <a:ext cx="2743200" cy="1371600"/>
          </a:xfrm>
          <a:prstGeom prst="round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9601200" y="2743200"/>
            <a:ext cx="1371600" cy="1371600"/>
          </a:xfrm>
          <a:prstGeom prst="roundRect">
            <a:avLst/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675120" y="4297680"/>
            <a:ext cx="1371600" cy="1371600"/>
          </a:xfrm>
          <a:prstGeom prst="round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229600" y="4297680"/>
            <a:ext cx="2743200" cy="1371600"/>
          </a:xfrm>
          <a:prstGeom prst="round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914400"/>
            <a:ext cx="1124712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200" b="1">
                <a:solidFill>
                  <a:srgbClr val="22C55E"/>
                </a:solidFill>
                <a:latin typeface="Arial"/>
              </a:rPr>
              <a:t>THE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0" y="1371600"/>
            <a:ext cx="5486400" cy="914400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3600" b="1">
                <a:solidFill>
                  <a:srgbClr val="DCDAD5"/>
                </a:solidFill>
                <a:latin typeface="Arial"/>
              </a:rPr>
              <a:t>לערוך וידאו זה... קשה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0" y="2286000"/>
            <a:ext cx="54864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1800" b="0">
                <a:solidFill>
                  <a:srgbClr val="22C55E"/>
                </a:solidFill>
                <a:latin typeface="Arial"/>
              </a:rPr>
              <a:t>טיימליין. ליירים. אפקטים. אינסוף קליקים.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0" y="2926080"/>
            <a:ext cx="54864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1600" b="0">
                <a:solidFill>
                  <a:srgbClr val="A09D96"/>
                </a:solidFill>
                <a:latin typeface="Arial"/>
              </a:rPr>
              <a:t>עריכת וידאו קלאסית היא ידנית. חוזרת על עצמה. ולא סקיילבילית.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097280"/>
            <a:ext cx="73152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>
                <a:solidFill>
                  <a:srgbClr val="A09D96"/>
                </a:solidFill>
                <a:latin typeface="Consolas"/>
              </a:rPr>
              <a:t>VIDEO</a:t>
            </a:r>
          </a:p>
        </p:txBody>
      </p:sp>
      <p:sp>
        <p:nvSpPr>
          <p:cNvPr id="7" name="Rectangle 6"/>
          <p:cNvSpPr/>
          <p:nvPr/>
        </p:nvSpPr>
        <p:spPr>
          <a:xfrm>
            <a:off x="1508760" y="1143000"/>
            <a:ext cx="925372" cy="45720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560319" y="1143000"/>
            <a:ext cx="1135684" cy="45720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780127" y="1143000"/>
            <a:ext cx="757123" cy="45720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705499" y="1143000"/>
            <a:ext cx="841248" cy="45720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1783080"/>
            <a:ext cx="73152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>
                <a:solidFill>
                  <a:srgbClr val="A09D96"/>
                </a:solidFill>
                <a:latin typeface="Consolas"/>
              </a:rPr>
              <a:t>AUDIO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508760" y="1828800"/>
            <a:ext cx="4206240" cy="45720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2468880"/>
            <a:ext cx="73152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>
                <a:solidFill>
                  <a:srgbClr val="A09D96"/>
                </a:solidFill>
                <a:latin typeface="Consolas"/>
              </a:rPr>
              <a:t>TEXT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508760" y="2514600"/>
            <a:ext cx="757123" cy="4572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602382" y="2514600"/>
            <a:ext cx="588873" cy="4572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569816" y="2514600"/>
            <a:ext cx="925372" cy="4572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3154680"/>
            <a:ext cx="73152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>
                <a:solidFill>
                  <a:srgbClr val="A09D96"/>
                </a:solidFill>
                <a:latin typeface="Consolas"/>
              </a:rPr>
              <a:t>FX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508760" y="3200400"/>
            <a:ext cx="462686" cy="457200"/>
          </a:xfrm>
          <a:prstGeom prst="rect">
            <a:avLst/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560319" y="3200400"/>
            <a:ext cx="378561" cy="457200"/>
          </a:xfrm>
          <a:prstGeom prst="rect">
            <a:avLst/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401566" y="3200400"/>
            <a:ext cx="546811" cy="457200"/>
          </a:xfrm>
          <a:prstGeom prst="rect">
            <a:avLst/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" y="3840480"/>
            <a:ext cx="73152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>
                <a:solidFill>
                  <a:srgbClr val="A09D96"/>
                </a:solidFill>
                <a:latin typeface="Consolas"/>
              </a:rPr>
              <a:t>MUSIC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508760" y="3886200"/>
            <a:ext cx="1766620" cy="45720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3485692" y="3886200"/>
            <a:ext cx="1261872" cy="45720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080" y="4526280"/>
            <a:ext cx="73152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>
                <a:solidFill>
                  <a:srgbClr val="A09D96"/>
                </a:solidFill>
                <a:latin typeface="Consolas"/>
              </a:rPr>
              <a:t>B-ROLL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508760" y="4572000"/>
            <a:ext cx="672998" cy="45720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2644444" y="4572000"/>
            <a:ext cx="841248" cy="45720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3780128" y="4572000"/>
            <a:ext cx="546811" cy="45720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4712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200" b="1">
                <a:solidFill>
                  <a:srgbClr val="22C55E"/>
                </a:solidFill>
                <a:latin typeface="Arial"/>
              </a:rPr>
              <a:t>THE SOLUTION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31520"/>
            <a:ext cx="11247120" cy="9144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3200" b="1">
                <a:solidFill>
                  <a:srgbClr val="DCDAD5"/>
                </a:solidFill>
                <a:latin typeface="Arial"/>
              </a:rPr>
              <a:t>?מה זה Remotion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1371600"/>
            <a:ext cx="9418320" cy="73152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600" b="0">
                <a:solidFill>
                  <a:srgbClr val="A09D96"/>
                </a:solidFill>
                <a:latin typeface="Arial"/>
              </a:rPr>
              <a:t>בונים וידאו עם React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1828800"/>
            <a:ext cx="9418320" cy="54864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400" b="0">
                <a:solidFill>
                  <a:srgbClr val="A09D96"/>
                </a:solidFill>
                <a:latin typeface="Arial"/>
              </a:rPr>
              <a:t>Remotion מאפשר לבנות וידאו באמצעות קוד. קומפוננטות. אנימציות. דינמיות מלאה.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560320"/>
            <a:ext cx="6217920" cy="3931920"/>
          </a:xfrm>
          <a:prstGeom prst="rect">
            <a:avLst/>
          </a:prstGeom>
          <a:solidFill>
            <a:srgbClr val="0A0E14"/>
          </a:solidFill>
          <a:ln w="12700">
            <a:solidFill>
              <a:srgbClr val="3030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2606040"/>
            <a:ext cx="18288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0">
                <a:solidFill>
                  <a:srgbClr val="1A803E"/>
                </a:solidFill>
                <a:latin typeface="Consolas"/>
              </a:rPr>
              <a:t>MyComp.tsx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017520"/>
            <a:ext cx="5852160" cy="32004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200"/>
              </a:spcAft>
            </a:pPr>
            <a:r>
              <a:rPr sz="1000">
                <a:solidFill>
                  <a:srgbClr val="C5C1B9"/>
                </a:solidFill>
                <a:latin typeface="Consolas"/>
              </a:rPr>
              <a:t>import { AbsoluteFill, useCurrentFrame, interpolate } from 'remotion'</a:t>
            </a:r>
          </a:p>
          <a:p>
            <a:pPr algn="l">
              <a:spcAft>
                <a:spcPts val="200"/>
              </a:spcAft>
            </a:pPr>
            <a:r>
              <a:rPr sz="1000">
                <a:solidFill>
                  <a:srgbClr val="C5C1B9"/>
                </a:solidFill>
                <a:latin typeface="Consolas"/>
              </a:rPr>
              <a:t>export const MyComp = () =&gt; {</a:t>
            </a:r>
          </a:p>
          <a:p>
            <a:pPr algn="l">
              <a:spcAft>
                <a:spcPts val="200"/>
              </a:spcAft>
            </a:pPr>
            <a:r>
              <a:rPr sz="1000">
                <a:solidFill>
                  <a:srgbClr val="C5C1B9"/>
                </a:solidFill>
                <a:latin typeface="Consolas"/>
              </a:rPr>
              <a:t>  const frame = useCurrentFrame()</a:t>
            </a:r>
          </a:p>
          <a:p>
            <a:pPr algn="l">
              <a:spcAft>
                <a:spcPts val="200"/>
              </a:spcAft>
            </a:pPr>
            <a:r>
              <a:rPr sz="1000">
                <a:solidFill>
                  <a:srgbClr val="C5C1B9"/>
                </a:solidFill>
                <a:latin typeface="Consolas"/>
              </a:rPr>
              <a:t>  return (&lt;AbsoluteFill style={{ background: '#0d1117' }}&gt;</a:t>
            </a:r>
          </a:p>
          <a:p>
            <a:pPr algn="l">
              <a:spcAft>
                <a:spcPts val="200"/>
              </a:spcAft>
            </a:pPr>
            <a:r>
              <a:rPr sz="1000">
                <a:solidFill>
                  <a:srgbClr val="C5C1B9"/>
                </a:solidFill>
                <a:latin typeface="Consolas"/>
              </a:rPr>
              <a:t>    &lt;div style={{ transform: `translateX(${frame*3}px)` }} /&gt;</a:t>
            </a:r>
          </a:p>
          <a:p>
            <a:pPr algn="l">
              <a:spcAft>
                <a:spcPts val="200"/>
              </a:spcAft>
            </a:pPr>
            <a:r>
              <a:rPr sz="1000">
                <a:solidFill>
                  <a:srgbClr val="C5C1B9"/>
                </a:solidFill>
                <a:latin typeface="Consolas"/>
              </a:rPr>
              <a:t>    &lt;h1 style={{ opacity: interpolate(frame,[0,30],[0,1]) }}&gt;</a:t>
            </a:r>
          </a:p>
          <a:p>
            <a:pPr algn="l">
              <a:spcAft>
                <a:spcPts val="200"/>
              </a:spcAft>
            </a:pPr>
            <a:r>
              <a:rPr sz="1000">
                <a:solidFill>
                  <a:srgbClr val="C5C1B9"/>
                </a:solidFill>
                <a:latin typeface="Consolas"/>
              </a:rPr>
              <a:t>      Hello, Remotion&lt;/h1&gt;</a:t>
            </a:r>
          </a:p>
          <a:p>
            <a:pPr algn="l">
              <a:spcAft>
                <a:spcPts val="200"/>
              </a:spcAft>
            </a:pPr>
            <a:r>
              <a:rPr sz="1000">
                <a:solidFill>
                  <a:srgbClr val="C5C1B9"/>
                </a:solidFill>
                <a:latin typeface="Consolas"/>
              </a:rPr>
              <a:t>    &lt;div style={{ transform: `scale(${...})` }} /&gt;</a:t>
            </a:r>
          </a:p>
          <a:p>
            <a:pPr algn="l">
              <a:spcAft>
                <a:spcPts val="200"/>
              </a:spcAft>
            </a:pPr>
            <a:r>
              <a:rPr sz="1000">
                <a:solidFill>
                  <a:srgbClr val="C5C1B9"/>
                </a:solidFill>
                <a:latin typeface="Consolas"/>
              </a:rPr>
              <a:t>  &lt;/AbsoluteFill&gt;)</a:t>
            </a:r>
          </a:p>
          <a:p>
            <a:pPr algn="l">
              <a:spcAft>
                <a:spcPts val="200"/>
              </a:spcAft>
            </a:pPr>
            <a:r>
              <a:rPr sz="1000">
                <a:solidFill>
                  <a:srgbClr val="C5C1B9"/>
                </a:solidFill>
                <a:latin typeface="Consolas"/>
              </a:rPr>
              <a:t>}</a:t>
            </a:r>
          </a:p>
        </p:txBody>
      </p:sp>
      <p:sp>
        <p:nvSpPr>
          <p:cNvPr id="9" name="Rectangle 8"/>
          <p:cNvSpPr/>
          <p:nvPr/>
        </p:nvSpPr>
        <p:spPr>
          <a:xfrm>
            <a:off x="6949440" y="2560320"/>
            <a:ext cx="4754880" cy="3931920"/>
          </a:xfrm>
          <a:prstGeom prst="rect">
            <a:avLst/>
          </a:prstGeom>
          <a:solidFill>
            <a:srgbClr val="0D1117"/>
          </a:solidFill>
          <a:ln w="12700">
            <a:solidFill>
              <a:srgbClr val="3030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132320" y="2606040"/>
            <a:ext cx="2743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0">
                <a:solidFill>
                  <a:srgbClr val="1A803E"/>
                </a:solidFill>
                <a:latin typeface="Consolas"/>
              </a:rPr>
              <a:t>Preview · frame 24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498079" y="3474720"/>
            <a:ext cx="731520" cy="73152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0" y="4389120"/>
            <a:ext cx="36576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2000" b="1">
                <a:solidFill>
                  <a:srgbClr val="DCDAD5"/>
                </a:solidFill>
                <a:latin typeface="Arial"/>
              </a:rPr>
              <a:t>Hello, Remotion</a:t>
            </a:r>
          </a:p>
        </p:txBody>
      </p:sp>
      <p:sp>
        <p:nvSpPr>
          <p:cNvPr id="13" name="Oval 12"/>
          <p:cNvSpPr/>
          <p:nvPr/>
        </p:nvSpPr>
        <p:spPr>
          <a:xfrm>
            <a:off x="8961120" y="5120640"/>
            <a:ext cx="822960" cy="822960"/>
          </a:xfrm>
          <a:prstGeom prst="ellipse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4712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200" b="1">
                <a:solidFill>
                  <a:srgbClr val="22C55E"/>
                </a:solidFill>
                <a:latin typeface="Arial"/>
              </a:rPr>
              <a:t>מה אפשר לבנות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1247120" cy="9144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2800" b="1">
                <a:solidFill>
                  <a:srgbClr val="DCDAD5"/>
                </a:solidFill>
                <a:latin typeface="Arial"/>
              </a:rPr>
              <a:t>לא רק אנימציה. Remotion היא מערכת לייצור וידאו.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18007" y="2011680"/>
            <a:ext cx="2011680" cy="2926080"/>
          </a:xfrm>
          <a:prstGeom prst="roundRect">
            <a:avLst/>
          </a:prstGeom>
          <a:solidFill>
            <a:srgbClr val="14171F"/>
          </a:solidFill>
          <a:ln w="12700">
            <a:solidFill>
              <a:srgbClr val="2A2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18007" y="2377440"/>
            <a:ext cx="2011680" cy="73152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3600" b="0">
                <a:solidFill>
                  <a:srgbClr val="DCDAD5"/>
                </a:solidFill>
                <a:latin typeface="Arial"/>
              </a:rPr>
              <a:t>📱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18007" y="3383280"/>
            <a:ext cx="2011680" cy="109728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600" b="0">
                <a:solidFill>
                  <a:srgbClr val="DCDAD5"/>
                </a:solidFill>
                <a:latin typeface="Arial"/>
              </a:rPr>
              <a:t>סרטוני
SHORTS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804007" y="2011680"/>
            <a:ext cx="2011680" cy="2926080"/>
          </a:xfrm>
          <a:prstGeom prst="roundRect">
            <a:avLst/>
          </a:prstGeom>
          <a:solidFill>
            <a:srgbClr val="14171F"/>
          </a:solidFill>
          <a:ln w="12700">
            <a:solidFill>
              <a:srgbClr val="2A2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804007" y="2377440"/>
            <a:ext cx="2011680" cy="73152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3600" b="0">
                <a:solidFill>
                  <a:srgbClr val="DCDAD5"/>
                </a:solidFill>
                <a:latin typeface="Arial"/>
              </a:rPr>
              <a:t>📊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804007" y="3383280"/>
            <a:ext cx="2011680" cy="109728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600" b="0">
                <a:solidFill>
                  <a:srgbClr val="DCDAD5"/>
                </a:solidFill>
                <a:latin typeface="Arial"/>
              </a:rPr>
              <a:t>הדמיות
נתונים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90007" y="2011680"/>
            <a:ext cx="2011680" cy="2926080"/>
          </a:xfrm>
          <a:prstGeom prst="roundRect">
            <a:avLst/>
          </a:prstGeom>
          <a:solidFill>
            <a:srgbClr val="14171F"/>
          </a:solidFill>
          <a:ln w="12700">
            <a:solidFill>
              <a:srgbClr val="2A2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90007" y="2377440"/>
            <a:ext cx="2011680" cy="73152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3600" b="0">
                <a:solidFill>
                  <a:srgbClr val="DCDAD5"/>
                </a:solidFill>
                <a:latin typeface="Arial"/>
              </a:rPr>
              <a:t>🎬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90007" y="3383280"/>
            <a:ext cx="2011680" cy="109728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600" b="0">
                <a:solidFill>
                  <a:srgbClr val="DCDAD5"/>
                </a:solidFill>
                <a:latin typeface="Arial"/>
              </a:rPr>
              <a:t>סרטוני
Promotion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76007" y="2011680"/>
            <a:ext cx="2011680" cy="2926080"/>
          </a:xfrm>
          <a:prstGeom prst="roundRect">
            <a:avLst/>
          </a:prstGeom>
          <a:solidFill>
            <a:srgbClr val="14171F"/>
          </a:solidFill>
          <a:ln w="12700">
            <a:solidFill>
              <a:srgbClr val="2A2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76007" y="2377440"/>
            <a:ext cx="2011680" cy="73152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3600" b="0">
                <a:solidFill>
                  <a:srgbClr val="DCDAD5"/>
                </a:solidFill>
                <a:latin typeface="Arial"/>
              </a:rPr>
              <a:t>💬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76007" y="3383280"/>
            <a:ext cx="2011680" cy="109728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600" b="0">
                <a:solidFill>
                  <a:srgbClr val="DCDAD5"/>
                </a:solidFill>
                <a:latin typeface="Arial"/>
              </a:rPr>
              <a:t>הוספת
כתוביות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662007" y="2011680"/>
            <a:ext cx="2011680" cy="2926080"/>
          </a:xfrm>
          <a:prstGeom prst="roundRect">
            <a:avLst/>
          </a:prstGeom>
          <a:solidFill>
            <a:srgbClr val="14171F"/>
          </a:solidFill>
          <a:ln w="12700">
            <a:solidFill>
              <a:srgbClr val="2A2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662007" y="2377440"/>
            <a:ext cx="2011680" cy="73152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3600" b="0">
                <a:solidFill>
                  <a:srgbClr val="DCDAD5"/>
                </a:solidFill>
                <a:latin typeface="Arial"/>
              </a:rPr>
              <a:t>🖱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62007" y="3383280"/>
            <a:ext cx="2011680" cy="109728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600" b="0">
                <a:solidFill>
                  <a:srgbClr val="DCDAD5"/>
                </a:solidFill>
                <a:latin typeface="Arial"/>
              </a:rPr>
              <a:t>אינטראקציות
בממשק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828800" y="5303520"/>
            <a:ext cx="850392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600" b="0">
                <a:solidFill>
                  <a:srgbClr val="A09D96"/>
                </a:solidFill>
                <a:latin typeface="Arial"/>
              </a:rPr>
              <a:t>וידאו שמבוסס על דאטה, פרומפט או API.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4712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200" b="1">
                <a:solidFill>
                  <a:srgbClr val="22C55E"/>
                </a:solidFill>
                <a:latin typeface="Arial"/>
              </a:rPr>
              <a:t>למה עכשיו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1247120" cy="9144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3200" b="1">
                <a:solidFill>
                  <a:srgbClr val="DCDAD5"/>
                </a:solidFill>
                <a:latin typeface="Arial"/>
              </a:rPr>
              <a:t>כי בינה מלאכותית כותבת קוד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66647" y="2011680"/>
            <a:ext cx="2103120" cy="2560320"/>
          </a:xfrm>
          <a:prstGeom prst="roundRect">
            <a:avLst/>
          </a:prstGeom>
          <a:solidFill>
            <a:srgbClr val="14171F"/>
          </a:solidFill>
          <a:ln w="12700">
            <a:solidFill>
              <a:srgbClr val="1A80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66647" y="2286000"/>
            <a:ext cx="2103120" cy="73152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3600" b="0">
                <a:solidFill>
                  <a:srgbClr val="22C55E"/>
                </a:solidFill>
                <a:latin typeface="Arial"/>
              </a:rPr>
              <a:t>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6647" y="3108960"/>
            <a:ext cx="210312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600" b="1">
                <a:solidFill>
                  <a:srgbClr val="DCDAD5"/>
                </a:solidFill>
                <a:latin typeface="Consolas"/>
              </a:rPr>
              <a:t>PROMPT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6647" y="3657600"/>
            <a:ext cx="2103120" cy="73152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300" b="0">
                <a:solidFill>
                  <a:srgbClr val="A09D96"/>
                </a:solidFill>
                <a:latin typeface="Arial"/>
              </a:rPr>
              <a:t>תאר מה אתה רוצה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169767" y="2926080"/>
            <a:ext cx="548640" cy="54864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2800" b="1">
                <a:solidFill>
                  <a:srgbClr val="22C55E"/>
                </a:solidFill>
                <a:latin typeface="Arial"/>
              </a:rPr>
              <a:t>→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718407" y="2011680"/>
            <a:ext cx="2103120" cy="2560320"/>
          </a:xfrm>
          <a:prstGeom prst="roundRect">
            <a:avLst/>
          </a:prstGeom>
          <a:solidFill>
            <a:srgbClr val="14171F"/>
          </a:solidFill>
          <a:ln w="12700">
            <a:solidFill>
              <a:srgbClr val="1A80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718407" y="2286000"/>
            <a:ext cx="2103120" cy="73152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3600" b="0">
                <a:solidFill>
                  <a:srgbClr val="22C55E"/>
                </a:solidFill>
                <a:latin typeface="Arial"/>
              </a:rPr>
              <a:t>🤖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718407" y="3108960"/>
            <a:ext cx="210312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600" b="1">
                <a:solidFill>
                  <a:srgbClr val="DCDAD5"/>
                </a:solidFill>
                <a:latin typeface="Consolas"/>
              </a:rPr>
              <a:t>AI AGENT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18407" y="3657600"/>
            <a:ext cx="2103120" cy="73152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300" b="0">
                <a:solidFill>
                  <a:srgbClr val="A09D96"/>
                </a:solidFill>
                <a:latin typeface="Arial"/>
              </a:rPr>
              <a:t>Claude Code מנתח ומתכנן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821527" y="2926080"/>
            <a:ext cx="548640" cy="54864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2800" b="1">
                <a:solidFill>
                  <a:srgbClr val="22C55E"/>
                </a:solidFill>
                <a:latin typeface="Arial"/>
              </a:rPr>
              <a:t>→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70167" y="2011680"/>
            <a:ext cx="2103120" cy="2560320"/>
          </a:xfrm>
          <a:prstGeom prst="roundRect">
            <a:avLst/>
          </a:prstGeom>
          <a:solidFill>
            <a:srgbClr val="14171F"/>
          </a:solidFill>
          <a:ln w="12700">
            <a:solidFill>
              <a:srgbClr val="1A80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70167" y="2286000"/>
            <a:ext cx="2103120" cy="73152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3600" b="0">
                <a:solidFill>
                  <a:srgbClr val="22C55E"/>
                </a:solidFill>
                <a:latin typeface="Arial"/>
              </a:rPr>
              <a:t>&lt; &gt;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70167" y="3108960"/>
            <a:ext cx="210312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600" b="1">
                <a:solidFill>
                  <a:srgbClr val="DCDAD5"/>
                </a:solidFill>
                <a:latin typeface="Consolas"/>
              </a:rPr>
              <a:t>CODE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70167" y="3657600"/>
            <a:ext cx="2103120" cy="73152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300" b="0">
                <a:solidFill>
                  <a:srgbClr val="A09D96"/>
                </a:solidFill>
                <a:latin typeface="Arial"/>
              </a:rPr>
              <a:t>קומפוננטות React + Remotion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73287" y="2926080"/>
            <a:ext cx="548640" cy="54864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2800" b="1">
                <a:solidFill>
                  <a:srgbClr val="22C55E"/>
                </a:solidFill>
                <a:latin typeface="Arial"/>
              </a:rPr>
              <a:t>→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021927" y="2011680"/>
            <a:ext cx="2103120" cy="2560320"/>
          </a:xfrm>
          <a:prstGeom prst="roundRect">
            <a:avLst/>
          </a:prstGeom>
          <a:solidFill>
            <a:srgbClr val="14171F"/>
          </a:solidFill>
          <a:ln w="12700">
            <a:solidFill>
              <a:srgbClr val="1A80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21927" y="2286000"/>
            <a:ext cx="2103120" cy="73152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3600" b="0">
                <a:solidFill>
                  <a:srgbClr val="22C55E"/>
                </a:solidFill>
                <a:latin typeface="Arial"/>
              </a:rPr>
              <a:t>▶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21927" y="3108960"/>
            <a:ext cx="210312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600" b="1">
                <a:solidFill>
                  <a:srgbClr val="DCDAD5"/>
                </a:solidFill>
                <a:latin typeface="Consolas"/>
              </a:rPr>
              <a:t>VIDEO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021927" y="3657600"/>
            <a:ext cx="2103120" cy="73152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300" b="0">
                <a:solidFill>
                  <a:srgbClr val="A09D96"/>
                </a:solidFill>
                <a:latin typeface="Arial"/>
              </a:rPr>
              <a:t>MP4 מוכן לפרסום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71600" y="5029200"/>
            <a:ext cx="9418320" cy="73152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600" b="0">
                <a:solidFill>
                  <a:srgbClr val="A09D96"/>
                </a:solidFill>
                <a:latin typeface="Arial"/>
              </a:rPr>
              <a:t>כל הצינור הזה רץ אוטומטית — אתה רק מתאר את הוידאו שאתה רוצה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200" b="1">
                <a:solidFill>
                  <a:srgbClr val="22C55E"/>
                </a:solidFill>
                <a:latin typeface="Arial"/>
              </a:rPr>
              <a:t>מה זה Claude Code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40080"/>
            <a:ext cx="11247120" cy="9144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2800" b="1">
                <a:solidFill>
                  <a:srgbClr val="DCDAD5"/>
                </a:solidFill>
                <a:latin typeface="Arial"/>
              </a:rPr>
              <a:t>סוכן AI שכותב, מריץ ומרנדר קוד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371600"/>
            <a:ext cx="6858000" cy="5029200"/>
          </a:xfrm>
          <a:prstGeom prst="rect">
            <a:avLst/>
          </a:prstGeom>
          <a:solidFill>
            <a:srgbClr val="0A0E14"/>
          </a:solidFill>
          <a:ln w="12700">
            <a:solidFill>
              <a:srgbClr val="3030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371600"/>
            <a:ext cx="6858000" cy="411480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40080" y="1463040"/>
            <a:ext cx="118872" cy="118872"/>
          </a:xfrm>
          <a:prstGeom prst="ellipse">
            <a:avLst/>
          </a:prstGeom>
          <a:solidFill>
            <a:srgbClr val="FF5F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68680" y="1463040"/>
            <a:ext cx="118872" cy="118872"/>
          </a:xfrm>
          <a:prstGeom prst="ellipse">
            <a:avLst/>
          </a:prstGeom>
          <a:solidFill>
            <a:srgbClr val="FEB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097280" y="1463040"/>
            <a:ext cx="118872" cy="118872"/>
          </a:xfrm>
          <a:prstGeom prst="ellipse">
            <a:avLst/>
          </a:prstGeom>
          <a:solidFill>
            <a:srgbClr val="28C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828800" y="1399032"/>
            <a:ext cx="36576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000" b="0">
                <a:solidFill>
                  <a:srgbClr val="A09D96"/>
                </a:solidFill>
                <a:latin typeface="Consolas"/>
              </a:rPr>
              <a:t>claude — terminal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1920240"/>
            <a:ext cx="6400800" cy="41148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200"/>
              </a:spcAft>
            </a:pPr>
            <a:r>
              <a:rPr sz="1200">
                <a:solidFill>
                  <a:srgbClr val="C5C1B9"/>
                </a:solidFill>
                <a:latin typeface="Consolas"/>
              </a:rPr>
              <a:t>$ claude</a:t>
            </a:r>
          </a:p>
          <a:p>
            <a:pPr algn="l">
              <a:spcAft>
                <a:spcPts val="200"/>
              </a:spcAft>
            </a:pPr>
            <a:r>
              <a:rPr sz="1200">
                <a:solidFill>
                  <a:srgbClr val="C5C1B9"/>
                </a:solidFill>
                <a:latin typeface="Consolas"/>
              </a:rPr>
              <a:t/>
            </a:r>
          </a:p>
          <a:p>
            <a:pPr algn="l">
              <a:spcAft>
                <a:spcPts val="200"/>
              </a:spcAft>
            </a:pPr>
            <a:r>
              <a:rPr sz="1200">
                <a:solidFill>
                  <a:srgbClr val="C5C1B9"/>
                </a:solidFill>
                <a:latin typeface="Consolas"/>
              </a:rPr>
              <a:t>&gt; Create a Remotion video with animated title,</a:t>
            </a:r>
          </a:p>
          <a:p>
            <a:pPr algn="l">
              <a:spcAft>
                <a:spcPts val="200"/>
              </a:spcAft>
            </a:pPr>
            <a:r>
              <a:rPr sz="1200">
                <a:solidFill>
                  <a:srgbClr val="C5C1B9"/>
                </a:solidFill>
                <a:latin typeface="Consolas"/>
              </a:rPr>
              <a:t>  background music, and smooth transitions</a:t>
            </a:r>
          </a:p>
          <a:p>
            <a:pPr algn="l">
              <a:spcAft>
                <a:spcPts val="200"/>
              </a:spcAft>
            </a:pPr>
            <a:r>
              <a:rPr sz="1200">
                <a:solidFill>
                  <a:srgbClr val="C5C1B9"/>
                </a:solidFill>
                <a:latin typeface="Consolas"/>
              </a:rPr>
              <a:t/>
            </a:r>
          </a:p>
          <a:p>
            <a:pPr algn="l">
              <a:spcAft>
                <a:spcPts val="200"/>
              </a:spcAft>
            </a:pPr>
            <a:r>
              <a:rPr sz="1200">
                <a:solidFill>
                  <a:srgbClr val="C5C1B9"/>
                </a:solidFill>
                <a:latin typeface="Consolas"/>
              </a:rPr>
              <a:t>⠋ Analyzing project structure...</a:t>
            </a:r>
          </a:p>
          <a:p>
            <a:pPr algn="l">
              <a:spcAft>
                <a:spcPts val="200"/>
              </a:spcAft>
            </a:pPr>
            <a:r>
              <a:rPr sz="1200">
                <a:solidFill>
                  <a:srgbClr val="C5C1B9"/>
                </a:solidFill>
                <a:latin typeface="Consolas"/>
              </a:rPr>
              <a:t>✓ Created Root.tsx</a:t>
            </a:r>
          </a:p>
          <a:p>
            <a:pPr algn="l">
              <a:spcAft>
                <a:spcPts val="200"/>
              </a:spcAft>
            </a:pPr>
            <a:r>
              <a:rPr sz="1200">
                <a:solidFill>
                  <a:srgbClr val="C5C1B9"/>
                </a:solidFill>
                <a:latin typeface="Consolas"/>
              </a:rPr>
              <a:t>✓ Created Composition.tsx</a:t>
            </a:r>
          </a:p>
          <a:p>
            <a:pPr algn="l">
              <a:spcAft>
                <a:spcPts val="200"/>
              </a:spcAft>
            </a:pPr>
            <a:r>
              <a:rPr sz="1200">
                <a:solidFill>
                  <a:srgbClr val="C5C1B9"/>
                </a:solidFill>
                <a:latin typeface="Consolas"/>
              </a:rPr>
              <a:t>✓ Created AudioTrack.tsx</a:t>
            </a:r>
          </a:p>
          <a:p>
            <a:pPr algn="l">
              <a:spcAft>
                <a:spcPts val="200"/>
              </a:spcAft>
            </a:pPr>
            <a:r>
              <a:rPr sz="1200">
                <a:solidFill>
                  <a:srgbClr val="C5C1B9"/>
                </a:solidFill>
                <a:latin typeface="Consolas"/>
              </a:rPr>
              <a:t>✓ Installing dependencies...</a:t>
            </a:r>
          </a:p>
          <a:p>
            <a:pPr algn="l">
              <a:spcAft>
                <a:spcPts val="200"/>
              </a:spcAft>
            </a:pPr>
            <a:r>
              <a:rPr sz="1200">
                <a:solidFill>
                  <a:srgbClr val="C5C1B9"/>
                </a:solidFill>
                <a:latin typeface="Consolas"/>
              </a:rPr>
              <a:t>✓ npm install remotion @remotion/cli</a:t>
            </a:r>
          </a:p>
          <a:p>
            <a:pPr algn="l">
              <a:spcAft>
                <a:spcPts val="200"/>
              </a:spcAft>
            </a:pPr>
            <a:r>
              <a:rPr sz="1200">
                <a:solidFill>
                  <a:srgbClr val="C5C1B9"/>
                </a:solidFill>
                <a:latin typeface="Consolas"/>
              </a:rPr>
              <a:t/>
            </a:r>
          </a:p>
          <a:p>
            <a:pPr algn="l">
              <a:spcAft>
                <a:spcPts val="200"/>
              </a:spcAft>
            </a:pPr>
            <a:r>
              <a:rPr sz="1200">
                <a:solidFill>
                  <a:srgbClr val="C5C1B9"/>
                </a:solidFill>
                <a:latin typeface="Consolas"/>
              </a:rPr>
              <a:t>✨ Project ready! Run: npx remotion preview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589520" y="1371600"/>
            <a:ext cx="4114800" cy="5029200"/>
          </a:xfrm>
          <a:prstGeom prst="rect">
            <a:avLst/>
          </a:prstGeom>
          <a:solidFill>
            <a:srgbClr val="14171F"/>
          </a:solidFill>
          <a:ln w="12700">
            <a:solidFill>
              <a:srgbClr val="3030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0" y="1554480"/>
            <a:ext cx="36576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1">
                <a:solidFill>
                  <a:srgbClr val="22C55E"/>
                </a:solidFill>
                <a:latin typeface="Consolas"/>
              </a:rPr>
              <a:t>PROJECT FILES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863840" y="2194560"/>
            <a:ext cx="457200" cy="457200"/>
          </a:xfrm>
          <a:prstGeom prst="roundRect">
            <a:avLst/>
          </a:prstGeom>
          <a:solidFill>
            <a:srgbClr val="1A2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863840" y="2194560"/>
            <a:ext cx="4572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400" b="0">
                <a:solidFill>
                  <a:srgbClr val="22C55E"/>
                </a:solidFill>
                <a:latin typeface="Arial"/>
              </a:rPr>
              <a:t>{ }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03920" y="2194560"/>
            <a:ext cx="2743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1">
                <a:solidFill>
                  <a:srgbClr val="DCDAD5"/>
                </a:solidFill>
                <a:latin typeface="Consolas"/>
              </a:rPr>
              <a:t>Root.tsx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03920" y="2468880"/>
            <a:ext cx="274320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>
                <a:solidFill>
                  <a:srgbClr val="A09D96"/>
                </a:solidFill>
                <a:latin typeface="Consolas"/>
              </a:rPr>
              <a:t>entry point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863840" y="3063239"/>
            <a:ext cx="457200" cy="457200"/>
          </a:xfrm>
          <a:prstGeom prst="roundRect">
            <a:avLst/>
          </a:prstGeom>
          <a:solidFill>
            <a:srgbClr val="1A2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863840" y="3063239"/>
            <a:ext cx="4572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400" b="0">
                <a:solidFill>
                  <a:srgbClr val="22C55E"/>
                </a:solidFill>
                <a:latin typeface="Arial"/>
              </a:rPr>
              <a:t>▶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03920" y="3063239"/>
            <a:ext cx="2743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1">
                <a:solidFill>
                  <a:srgbClr val="DCDAD5"/>
                </a:solidFill>
                <a:latin typeface="Consolas"/>
              </a:rPr>
              <a:t>Composition.tsx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503920" y="3337559"/>
            <a:ext cx="274320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>
                <a:solidFill>
                  <a:srgbClr val="A09D96"/>
                </a:solidFill>
                <a:latin typeface="Consolas"/>
              </a:rPr>
              <a:t>animated title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863840" y="3931920"/>
            <a:ext cx="457200" cy="457200"/>
          </a:xfrm>
          <a:prstGeom prst="roundRect">
            <a:avLst/>
          </a:prstGeom>
          <a:solidFill>
            <a:srgbClr val="1A2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863840" y="3931920"/>
            <a:ext cx="4572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400" b="0">
                <a:solidFill>
                  <a:srgbClr val="22C55E"/>
                </a:solidFill>
                <a:latin typeface="Arial"/>
              </a:rPr>
              <a:t>♪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503920" y="3931920"/>
            <a:ext cx="2743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1">
                <a:solidFill>
                  <a:srgbClr val="DCDAD5"/>
                </a:solidFill>
                <a:latin typeface="Consolas"/>
              </a:rPr>
              <a:t>AudioTrack.tsx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503920" y="4206240"/>
            <a:ext cx="274320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>
                <a:solidFill>
                  <a:srgbClr val="A09D96"/>
                </a:solidFill>
                <a:latin typeface="Consolas"/>
              </a:rPr>
              <a:t>sound effects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863840" y="4800600"/>
            <a:ext cx="457200" cy="457200"/>
          </a:xfrm>
          <a:prstGeom prst="roundRect">
            <a:avLst/>
          </a:prstGeom>
          <a:solidFill>
            <a:srgbClr val="1A2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863840" y="4800600"/>
            <a:ext cx="4572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400" b="0">
                <a:solidFill>
                  <a:srgbClr val="22C55E"/>
                </a:solidFill>
                <a:latin typeface="Arial"/>
              </a:rPr>
              <a:t>◆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503920" y="4800600"/>
            <a:ext cx="2743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1">
                <a:solidFill>
                  <a:srgbClr val="DCDAD5"/>
                </a:solidFill>
                <a:latin typeface="Consolas"/>
              </a:rPr>
              <a:t>package.json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503920" y="5074920"/>
            <a:ext cx="274320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>
                <a:solidFill>
                  <a:srgbClr val="A09D96"/>
                </a:solidFill>
                <a:latin typeface="Consolas"/>
              </a:rPr>
              <a:t>dependencies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4712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200" b="1">
                <a:solidFill>
                  <a:srgbClr val="22C55E"/>
                </a:solidFill>
                <a:latin typeface="Arial"/>
              </a:rPr>
              <a:t>מה זה Skills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1247120" cy="9144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3200" b="1">
                <a:solidFill>
                  <a:srgbClr val="DCDAD5"/>
                </a:solidFill>
                <a:latin typeface="Arial"/>
              </a:rPr>
              <a:t>חבילות יכולות מובנות לסוכן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0" y="2011680"/>
            <a:ext cx="45720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0">
                <a:solidFill>
                  <a:srgbClr val="DCDAD5"/>
                </a:solidFill>
                <a:latin typeface="Consolas"/>
              </a:rPr>
              <a:t>Installing remotion-skill...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0" y="2011680"/>
            <a:ext cx="13716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1400" b="1">
                <a:solidFill>
                  <a:srgbClr val="22C55E"/>
                </a:solidFill>
                <a:latin typeface="Consolas"/>
              </a:rPr>
              <a:t>100%</a:t>
            </a:r>
          </a:p>
        </p:txBody>
      </p:sp>
      <p:sp>
        <p:nvSpPr>
          <p:cNvPr id="6" name="Rectangle 5"/>
          <p:cNvSpPr/>
          <p:nvPr/>
        </p:nvSpPr>
        <p:spPr>
          <a:xfrm>
            <a:off x="2286000" y="2468880"/>
            <a:ext cx="7589520" cy="274320"/>
          </a:xfrm>
          <a:prstGeom prst="rect">
            <a:avLst/>
          </a:prstGeom>
          <a:solidFill>
            <a:srgbClr val="2A2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286000" y="2468880"/>
            <a:ext cx="7589520" cy="27432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286000" y="2926080"/>
            <a:ext cx="75895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>
                <a:solidFill>
                  <a:srgbClr val="A09D96"/>
                </a:solidFill>
                <a:latin typeface="Consolas"/>
              </a:rPr>
              <a:t>✔ Loaded 847 tools · ✔ Ready to render videos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392527" y="3657600"/>
            <a:ext cx="1645920" cy="502920"/>
          </a:xfrm>
          <a:prstGeom prst="roundRect">
            <a:avLst/>
          </a:prstGeom>
          <a:solidFill>
            <a:srgbClr val="14171F"/>
          </a:solidFill>
          <a:ln w="12700">
            <a:solidFill>
              <a:srgbClr val="1A80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392527" y="3703320"/>
            <a:ext cx="1645920" cy="50292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300" b="0">
                <a:solidFill>
                  <a:srgbClr val="22C55E"/>
                </a:solidFill>
                <a:latin typeface="Consolas"/>
              </a:rPr>
              <a:t>⟨/⟩  React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12767" y="3657600"/>
            <a:ext cx="1645920" cy="502920"/>
          </a:xfrm>
          <a:prstGeom prst="roundRect">
            <a:avLst/>
          </a:prstGeom>
          <a:solidFill>
            <a:srgbClr val="14171F"/>
          </a:solidFill>
          <a:ln w="12700">
            <a:solidFill>
              <a:srgbClr val="1A80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312767" y="3703320"/>
            <a:ext cx="1645920" cy="50292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300" b="0">
                <a:solidFill>
                  <a:srgbClr val="22C55E"/>
                </a:solidFill>
                <a:latin typeface="Consolas"/>
              </a:rPr>
              <a:t>⏱  Animation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33007" y="3657600"/>
            <a:ext cx="1645920" cy="502920"/>
          </a:xfrm>
          <a:prstGeom prst="roundRect">
            <a:avLst/>
          </a:prstGeom>
          <a:solidFill>
            <a:srgbClr val="14171F"/>
          </a:solidFill>
          <a:ln w="12700">
            <a:solidFill>
              <a:srgbClr val="1A80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33007" y="3703320"/>
            <a:ext cx="1645920" cy="50292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300" b="0">
                <a:solidFill>
                  <a:srgbClr val="22C55E"/>
                </a:solidFill>
                <a:latin typeface="Consolas"/>
              </a:rPr>
              <a:t>▶  Render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53247" y="3657600"/>
            <a:ext cx="1645920" cy="502920"/>
          </a:xfrm>
          <a:prstGeom prst="roundRect">
            <a:avLst/>
          </a:prstGeom>
          <a:solidFill>
            <a:srgbClr val="14171F"/>
          </a:solidFill>
          <a:ln w="12700">
            <a:solidFill>
              <a:srgbClr val="1A80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153247" y="3703320"/>
            <a:ext cx="1645920" cy="50292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300" b="0">
                <a:solidFill>
                  <a:srgbClr val="22C55E"/>
                </a:solidFill>
                <a:latin typeface="Consolas"/>
              </a:rPr>
              <a:t>♪  Audio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743200" y="4572000"/>
            <a:ext cx="66751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200" b="0">
                <a:solidFill>
                  <a:srgbClr val="A09D96"/>
                </a:solidFill>
                <a:latin typeface="Consolas"/>
              </a:rPr>
              <a:t>github.com/remotion-dev/skills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828800" y="5120640"/>
            <a:ext cx="850392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400" b="0">
                <a:solidFill>
                  <a:srgbClr val="A09D96"/>
                </a:solidFill>
                <a:latin typeface="Arial"/>
              </a:rPr>
              <a:t>Skill = מאות כלים שמאפשרים לסוכן לעבוד עם Remotion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731520"/>
            <a:ext cx="1124712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200" b="1">
                <a:solidFill>
                  <a:srgbClr val="22C55E"/>
                </a:solidFill>
                <a:latin typeface="Arial"/>
              </a:rPr>
              <a:t>איך זה הולך לעבוד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11247120" cy="9144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3200" b="1">
                <a:solidFill>
                  <a:srgbClr val="DCDAD5"/>
                </a:solidFill>
                <a:latin typeface="Arial"/>
              </a:rPr>
              <a:t>מה תדעו לעשות עד סוף הסרטון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0" y="2286000"/>
            <a:ext cx="457200" cy="59436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800" b="1">
                <a:solidFill>
                  <a:srgbClr val="22C55E"/>
                </a:solidFill>
                <a:latin typeface="Arial"/>
              </a:rPr>
              <a:t>✓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0" y="2286000"/>
            <a:ext cx="3657600" cy="594360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2000" b="0">
                <a:solidFill>
                  <a:srgbClr val="DCDAD5"/>
                </a:solidFill>
                <a:latin typeface="Arial"/>
              </a:rPr>
              <a:t>התקנת Remotion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80" y="2880360"/>
            <a:ext cx="457200" cy="59436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800" b="1">
                <a:solidFill>
                  <a:srgbClr val="22C55E"/>
                </a:solidFill>
                <a:latin typeface="Arial"/>
              </a:rPr>
              <a:t>✓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0" y="2880360"/>
            <a:ext cx="3657600" cy="594360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2000" b="0">
                <a:solidFill>
                  <a:srgbClr val="DCDAD5"/>
                </a:solidFill>
                <a:latin typeface="Arial"/>
              </a:rPr>
              <a:t>יצירת פרויקט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98080" y="3474720"/>
            <a:ext cx="457200" cy="59436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800" b="1">
                <a:solidFill>
                  <a:srgbClr val="22C55E"/>
                </a:solidFill>
                <a:latin typeface="Arial"/>
              </a:rPr>
              <a:t>✓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0" y="3474720"/>
            <a:ext cx="3657600" cy="594360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2000" b="0">
                <a:solidFill>
                  <a:srgbClr val="DCDAD5"/>
                </a:solidFill>
                <a:latin typeface="Arial"/>
              </a:rPr>
              <a:t>בניית אנימציה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0" y="4069080"/>
            <a:ext cx="457200" cy="59436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800" b="1">
                <a:solidFill>
                  <a:srgbClr val="22C55E"/>
                </a:solidFill>
                <a:latin typeface="Arial"/>
              </a:rPr>
              <a:t>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0" y="4069080"/>
            <a:ext cx="3657600" cy="594360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2000" b="0">
                <a:solidFill>
                  <a:srgbClr val="DCDAD5"/>
                </a:solidFill>
                <a:latin typeface="Arial"/>
              </a:rPr>
              <a:t>הוספת סאונד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98080" y="4663440"/>
            <a:ext cx="457200" cy="59436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800" b="1">
                <a:solidFill>
                  <a:srgbClr val="22C55E"/>
                </a:solidFill>
                <a:latin typeface="Arial"/>
              </a:rPr>
              <a:t>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0" y="4663440"/>
            <a:ext cx="3657600" cy="594360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2000" b="0">
                <a:solidFill>
                  <a:srgbClr val="DCDAD5"/>
                </a:solidFill>
                <a:latin typeface="Arial"/>
              </a:rPr>
              <a:t>רינדור ויצוא MP4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43200" y="5303520"/>
            <a:ext cx="667512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800" b="1">
                <a:solidFill>
                  <a:srgbClr val="22C55E"/>
                </a:solidFill>
                <a:latin typeface="Arial"/>
              </a:rPr>
              <a:t>לא תיאוריה. בנייה אמיתית.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0" y="1097280"/>
            <a:ext cx="667512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400" b="1">
                <a:solidFill>
                  <a:srgbClr val="22C55E"/>
                </a:solidFill>
                <a:latin typeface="Arial"/>
              </a:rPr>
              <a:t>LIVE DEMO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3657600" y="1828800"/>
            <a:ext cx="1371600" cy="1371600"/>
          </a:xfrm>
          <a:prstGeom prst="roundRect">
            <a:avLst/>
          </a:prstGeom>
          <a:solidFill>
            <a:srgbClr val="14171F"/>
          </a:solidFill>
          <a:ln w="12700">
            <a:solidFill>
              <a:srgbClr val="1A80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0" y="2011680"/>
            <a:ext cx="1371600" cy="9144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3600" b="1">
                <a:solidFill>
                  <a:srgbClr val="DCDAD5"/>
                </a:solidFill>
                <a:latin typeface="Arial"/>
              </a:rPr>
              <a:t>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0" y="3200400"/>
            <a:ext cx="22860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400" b="0">
                <a:solidFill>
                  <a:srgbClr val="A09D96"/>
                </a:solidFill>
                <a:latin typeface="Arial"/>
              </a:rPr>
              <a:t>Remotion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0" y="2103120"/>
            <a:ext cx="1188720" cy="73152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2800" b="0">
                <a:solidFill>
                  <a:srgbClr val="A09D96"/>
                </a:solidFill>
                <a:latin typeface="Arial"/>
              </a:rPr>
              <a:t>×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132320" y="1828800"/>
            <a:ext cx="1371600" cy="1371600"/>
          </a:xfrm>
          <a:prstGeom prst="roundRect">
            <a:avLst/>
          </a:prstGeom>
          <a:solidFill>
            <a:srgbClr val="14171F"/>
          </a:solidFill>
          <a:ln w="12700">
            <a:solidFill>
              <a:srgbClr val="1A80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132320" y="2011680"/>
            <a:ext cx="1371600" cy="9144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3600" b="1">
                <a:solidFill>
                  <a:srgbClr val="DCDAD5"/>
                </a:solidFill>
                <a:latin typeface="Arial"/>
              </a:rPr>
              <a:t>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75120" y="3200400"/>
            <a:ext cx="22860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400" b="0">
                <a:solidFill>
                  <a:srgbClr val="A09D96"/>
                </a:solidFill>
                <a:latin typeface="Arial"/>
              </a:rPr>
              <a:t>Claude Code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931920"/>
            <a:ext cx="9418320" cy="73152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3600" b="1">
                <a:solidFill>
                  <a:srgbClr val="DCDAD5"/>
                </a:solidFill>
                <a:latin typeface="Arial"/>
              </a:rPr>
              <a:t>עכשיו בונים את זה ביחד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28800" y="4754880"/>
            <a:ext cx="8503920" cy="54864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800" b="0">
                <a:solidFill>
                  <a:srgbClr val="A09D96"/>
                </a:solidFill>
                <a:latin typeface="Arial"/>
              </a:rPr>
              <a:t>מפתחים את הסרטון הראשון שלכם — מפרומפט עד MP4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0" y="5486400"/>
            <a:ext cx="1188720" cy="54864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3200" b="1">
                <a:solidFill>
                  <a:srgbClr val="22C55E"/>
                </a:solidFill>
                <a:latin typeface="Arial"/>
              </a:rPr>
              <a:t>↓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