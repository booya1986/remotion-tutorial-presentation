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FROM CODE TO 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600" b="1">
                <a:solidFill>
                  <a:srgbClr val="DCDAD5"/>
                </a:solidFill>
                <a:latin typeface="Heebo"/>
              </a:rPr>
              <a:t>מהפכת יצירת הווידאו עם Remotion ו-Claude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אנימציה. גרפיקה. סאונד. קריינות.</a:t>
            </a:r>
          </a:p>
          <a:p>
            <a:pPr algn="ctr" rtl="1">
              <a:lnSpc>
                <a:spcPts val="3200"/>
              </a:lnSpc>
            </a:pPr>
            <a:r>
              <a:rPr sz="2000" b="0">
                <a:solidFill>
                  <a:srgbClr val="A09D96"/>
                </a:solidFill>
                <a:latin typeface="Heebo"/>
              </a:rPr>
              <a:t>הכל נבנה בקוד.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3152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471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8074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96012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MyVideo.tsx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34440"/>
            <a:ext cx="438912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import { Composition } from 'remotion'
import { useCurrentFrame } from 'remotion'
import { interpolate } from 'remotion'
export const MyVideo = () =&gt; {
  const frame = useCurrentFrame()
  const opacity = interpolate(
    frame, [0, 30], [0, 1]
  )
  return &lt;AbsoluteFill style={{opacity}} /&gt;
}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760720" y="2926080"/>
            <a:ext cx="731520" cy="5486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0" y="914400"/>
            <a:ext cx="4754880" cy="502920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903720" y="10058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159752" y="10058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415784" y="10058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875520" y="14630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5039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875520" y="2834640"/>
            <a:ext cx="1280160" cy="1188720"/>
          </a:xfrm>
          <a:prstGeom prst="roundRect">
            <a:avLst>
              <a:gd name="adj" fmla="val 8000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040880" y="5303520"/>
            <a:ext cx="4206240" cy="13716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0" y="5257800"/>
            <a:ext cx="73152" cy="22860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0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Heebo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1920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>
                <a:solidFill>
                  <a:srgbClr val="DCDAD5"/>
                </a:solidFill>
                <a:latin typeface="Heebo"/>
              </a:rPr>
              <a:t>לערוך וידאו זה... קשה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28346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22C55E"/>
                </a:solidFill>
                <a:latin typeface="Heebo"/>
              </a:rPr>
              <a:t>טיימליין. ליירים. אפקטים. אינסוף קליקים.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47472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0">
                <a:solidFill>
                  <a:srgbClr val="A09D96"/>
                </a:solidFill>
                <a:latin typeface="Heebo"/>
              </a:rPr>
              <a:t>עריכת וידאו קלאסית היא ידנית. חוזרת על עצמה. ולא סקיילבילית.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10972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800" b="0">
                <a:solidFill>
                  <a:srgbClr val="555555"/>
                </a:solidFill>
                <a:latin typeface="Consolas"/>
              </a:rPr>
              <a:t>00:30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5087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VIDEO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" y="146304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537460" y="1463040"/>
            <a:ext cx="1357884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5928" y="146304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02352" y="14630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3B82F6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AUDIO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80160" y="1965960"/>
            <a:ext cx="5029200" cy="411480"/>
          </a:xfrm>
          <a:prstGeom prst="roundRect">
            <a:avLst>
              <a:gd name="adj" fmla="val 15000"/>
            </a:avLst>
          </a:prstGeom>
          <a:solidFill>
            <a:srgbClr val="22C55E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51460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TEXT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2468880"/>
            <a:ext cx="905256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090672" y="2468880"/>
            <a:ext cx="704088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247388" y="2468880"/>
            <a:ext cx="1106424" cy="411480"/>
          </a:xfrm>
          <a:prstGeom prst="roundRect">
            <a:avLst>
              <a:gd name="adj" fmla="val 15000"/>
            </a:avLst>
          </a:prstGeom>
          <a:solidFill>
            <a:srgbClr val="F59E0B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01752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FX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32204" y="2971800"/>
            <a:ext cx="553212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889504" y="2971800"/>
            <a:ext cx="452628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95344" y="297180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850892" y="2971800"/>
            <a:ext cx="502920" cy="411480"/>
          </a:xfrm>
          <a:prstGeom prst="roundRect">
            <a:avLst>
              <a:gd name="adj" fmla="val 15000"/>
            </a:avLst>
          </a:prstGeom>
          <a:solidFill>
            <a:srgbClr val="A855F7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52044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MUSIC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280160" y="3474720"/>
            <a:ext cx="2112264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43884" y="3474720"/>
            <a:ext cx="1508760" cy="411480"/>
          </a:xfrm>
          <a:prstGeom prst="roundRect">
            <a:avLst>
              <a:gd name="adj" fmla="val 15000"/>
            </a:avLst>
          </a:prstGeom>
          <a:solidFill>
            <a:srgbClr val="EC4899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4023360"/>
            <a:ext cx="777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800" b="1">
                <a:solidFill>
                  <a:srgbClr val="777777"/>
                </a:solidFill>
                <a:latin typeface="Consolas"/>
              </a:rPr>
              <a:t>B-ROLL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531620" y="3977640"/>
            <a:ext cx="804672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89504" y="3977640"/>
            <a:ext cx="1005840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47388" y="3977640"/>
            <a:ext cx="653796" cy="411480"/>
          </a:xfrm>
          <a:prstGeom prst="roundRect">
            <a:avLst>
              <a:gd name="adj" fmla="val 15000"/>
            </a:avLst>
          </a:prstGeom>
          <a:solidFill>
            <a:srgbClr val="06B6D4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040380" y="1371600"/>
            <a:ext cx="18288" cy="3200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מה זה Remotion?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5544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22C55E"/>
                </a:solidFill>
                <a:latin typeface="Heebo"/>
              </a:rPr>
              <a:t>בונים וידאו עם React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01168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Remotion מאפשר לבנות וידאו באמצעות קוד. קומפוננטות. אנימציות. דינמיות מלאה.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43200"/>
            <a:ext cx="6400800" cy="384048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94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0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6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2788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MyComp.tsx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63240"/>
            <a:ext cx="603504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C5C1B9"/>
                </a:solidFill>
                <a:latin typeface="Consolas"/>
              </a:rPr>
              <a:t>import { AbsoluteFill, useCurrentFrame,
         interpolate } from 'remotion'
export const MyComp = () =&gt; {
  const frame = useCurrentFrame()
  return (&lt;AbsoluteFill style={{
    background: '#0d1117' }}&gt;
    &lt;div style={{ transform:
      `translateX(${frame*3}px)` }} /&gt;
    &lt;h1 style={{ opacity:
      interpolate(frame,[0,30],[0,1])
    }}&gt;Hello, Remotion&lt;/h1&gt;
    &lt;div style={{ transform:
      `scale(...)` }} /&gt;
  &lt;/AbsoluteFill&gt;)
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2743200"/>
            <a:ext cx="4389120" cy="384048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452360" y="283464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08392" y="283464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964424" y="283464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Preview · frame 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3474720"/>
            <a:ext cx="1097280" cy="7315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438912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200" b="1">
                <a:solidFill>
                  <a:srgbClr val="FFFFFF"/>
                </a:solidFill>
                <a:latin typeface="Heebo"/>
              </a:rPr>
              <a:t>Hello, Remotion</a:t>
            </a:r>
          </a:p>
        </p:txBody>
      </p:sp>
      <p:sp>
        <p:nvSpPr>
          <p:cNvPr id="20" name="Oval 19"/>
          <p:cNvSpPr/>
          <p:nvPr/>
        </p:nvSpPr>
        <p:spPr>
          <a:xfrm>
            <a:off x="8961120" y="5212080"/>
            <a:ext cx="1097280" cy="109728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אפשר לבנות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800" b="1">
                <a:solidFill>
                  <a:srgbClr val="DCDAD5"/>
                </a:solidFill>
                <a:latin typeface="Heebo"/>
              </a:rPr>
              <a:t>לא רק אנימציה. Remotion היא מערכת לייצור וידאו.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804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04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948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SHORTS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8688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8688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▁▃▅▇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7832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הדמיות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נתונים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572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572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2716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סרטוני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Promotion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8456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8456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CC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600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הוספת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כתוביות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33407" y="2103120"/>
            <a:ext cx="1920240" cy="32004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3344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33407" y="2468880"/>
            <a:ext cx="1920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200" b="0">
                <a:solidFill>
                  <a:srgbClr val="22C55E"/>
                </a:solidFill>
                <a:latin typeface="Heebo"/>
              </a:rPr>
              <a:t>○○○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4847" y="374904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אינטראקציות</a:t>
            </a:r>
          </a:p>
          <a:p>
            <a:pPr algn="ctr" rtl="1">
              <a:lnSpc>
                <a:spcPts val="2200"/>
              </a:lnSpc>
            </a:pPr>
            <a:r>
              <a:rPr sz="1400" b="0">
                <a:solidFill>
                  <a:srgbClr val="C5C1B9"/>
                </a:solidFill>
                <a:latin typeface="Heebo"/>
              </a:rPr>
              <a:t>בממשק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600" b="0">
                <a:solidFill>
                  <a:srgbClr val="A09D96"/>
                </a:solidFill>
                <a:latin typeface="Heebo"/>
              </a:rPr>
              <a:t>וידאו שמבוסס על דאטה, פרומפט או API.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למה עכשיו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כי בינה מלאכותית כותבת קוד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088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88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376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תאר מה אתה רוצה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3260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3552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552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AI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840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Claude Code מנתח ומתכנן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6724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016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016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304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קומפוננטות React + Remotion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01887" y="3291840"/>
            <a:ext cx="457200" cy="320040"/>
          </a:xfrm>
          <a:prstGeom prst="right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04807" y="2194560"/>
            <a:ext cx="2286000" cy="256032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04807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VIDEO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7687" y="338328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0">
                <a:solidFill>
                  <a:srgbClr val="A09D96"/>
                </a:solidFill>
                <a:latin typeface="Heebo"/>
              </a:rPr>
              <a:t>MP4 מוכן לפרסום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כל הצינור הזה רץ אוטומטית — אתה רק מתאר את הוידאו שאתה רוצה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סוכן AI שכותב, מריץ ומרנדר קוד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640080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94360" y="2103120"/>
            <a:ext cx="137160" cy="13716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2103120"/>
            <a:ext cx="137160" cy="13716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06424" y="2103120"/>
            <a:ext cx="137160" cy="13716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900" b="0">
                <a:solidFill>
                  <a:srgbClr val="666666"/>
                </a:solidFill>
                <a:latin typeface="Consolas"/>
              </a:rPr>
              <a:t>claude — 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31720"/>
            <a:ext cx="6035040" cy="3977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C5C1B9"/>
                </a:solidFill>
                <a:latin typeface="Consolas"/>
              </a:rPr>
              <a:t>$ claude "Create a Remotion video with
  animated title and sound effects"
&gt; Creating project structure...
&gt; Writing Root.tsx...
&gt; Adding Composition with spring animation
&gt; Configuring audio track
&gt; Rendering video at 1920x1080, 30fps
✔ Video rendered: output/video.mp4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011680"/>
            <a:ext cx="4389120" cy="4389120"/>
          </a:xfrm>
          <a:prstGeom prst="roundRect">
            <a:avLst>
              <a:gd name="adj" fmla="val 5000"/>
            </a:avLst>
          </a:prstGeom>
          <a:solidFill>
            <a:srgbClr val="1E1E1E"/>
          </a:solidFill>
          <a:ln w="1270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2194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1">
                <a:solidFill>
                  <a:srgbClr val="666666"/>
                </a:solidFill>
                <a:latin typeface="Consolas"/>
              </a:rPr>
              <a:t>PROJECT FILES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0" y="281635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0" y="2697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Root.tsx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entry point</a:t>
            </a:r>
          </a:p>
        </p:txBody>
      </p:sp>
      <p:sp>
        <p:nvSpPr>
          <p:cNvPr id="16" name="Oval 15"/>
          <p:cNvSpPr/>
          <p:nvPr/>
        </p:nvSpPr>
        <p:spPr>
          <a:xfrm>
            <a:off x="7680960" y="36393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0" y="352044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Composition.tsx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0" y="37947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animated title</a:t>
            </a:r>
          </a:p>
        </p:txBody>
      </p:sp>
      <p:sp>
        <p:nvSpPr>
          <p:cNvPr id="19" name="Oval 18"/>
          <p:cNvSpPr/>
          <p:nvPr/>
        </p:nvSpPr>
        <p:spPr>
          <a:xfrm>
            <a:off x="7680960" y="446227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434340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AudioTrack.tsx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6177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sound effects</a:t>
            </a:r>
          </a:p>
        </p:txBody>
      </p:sp>
      <p:sp>
        <p:nvSpPr>
          <p:cNvPr id="22" name="Oval 21"/>
          <p:cNvSpPr/>
          <p:nvPr/>
        </p:nvSpPr>
        <p:spPr>
          <a:xfrm>
            <a:off x="7680960" y="528523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0" y="516636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1">
                <a:solidFill>
                  <a:srgbClr val="FFFFFF"/>
                </a:solidFill>
                <a:latin typeface="Consolas"/>
              </a:rPr>
              <a:t>package.json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80" y="54406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100" b="0">
                <a:solidFill>
                  <a:srgbClr val="A09D96"/>
                </a:solidFill>
                <a:latin typeface="Consolas"/>
              </a:rPr>
              <a:t>dependencies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מה זה 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חבילות יכולות מובנות לסוכן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400" b="0">
                <a:solidFill>
                  <a:srgbClr val="C5C1B9"/>
                </a:solidFill>
                <a:latin typeface="Consolas"/>
              </a:rPr>
              <a:t>Installing remotion-skill...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86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22C55E"/>
                </a:solidFill>
                <a:latin typeface="Consolas"/>
              </a:rPr>
              <a:t>100%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28800" y="2743200"/>
            <a:ext cx="8503920" cy="274320"/>
          </a:xfrm>
          <a:prstGeom prst="roundRect">
            <a:avLst>
              <a:gd name="adj" fmla="val 5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31546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200" b="0">
                <a:solidFill>
                  <a:srgbClr val="22C55E"/>
                </a:solidFill>
                <a:latin typeface="Consolas"/>
              </a:rPr>
              <a:t>✔ Loaded 847 tools · ✔ Ready to render videos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9252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276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Animation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Render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3247" y="3840480"/>
            <a:ext cx="1645920" cy="5029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Heebo"/>
              </a:rPr>
              <a:t>Audio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475488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300" b="0">
                <a:solidFill>
                  <a:srgbClr val="A09D96"/>
                </a:solidFill>
                <a:latin typeface="Consolas"/>
              </a:rPr>
              <a:t>remotion-dev/skills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3035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500" b="0">
                <a:solidFill>
                  <a:srgbClr val="A09D96"/>
                </a:solidFill>
                <a:latin typeface="Heebo"/>
              </a:rPr>
              <a:t>Skill = מאות כלים שמאפשרים לסוכן לעבוד עם Remotion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54864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400" b="1">
                <a:solidFill>
                  <a:srgbClr val="22C55E"/>
                </a:solidFill>
                <a:latin typeface="Heebo"/>
              </a:rPr>
              <a:t>איך זה הולך לעבוד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00584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000" b="1">
                <a:solidFill>
                  <a:srgbClr val="DCDAD5"/>
                </a:solidFill>
                <a:latin typeface="Heebo"/>
              </a:rPr>
              <a:t>מה תדעו לעשות עד סוף הסרטון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84567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09847" y="21031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התקנת Remotion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84567" y="2788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27889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יצירת פרויקט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4567" y="34747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9847" y="3474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בניית אנימציה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84567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41605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הוספת סאונד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84567" y="4846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2000" b="1">
                <a:solidFill>
                  <a:srgbClr val="22C55E"/>
                </a:solidFill>
                <a:latin typeface="Heebo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0">
                <a:solidFill>
                  <a:srgbClr val="C5C1B9"/>
                </a:solidFill>
                <a:latin typeface="Heebo"/>
              </a:rPr>
              <a:t>רינדור ויצוא MP4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0" y="56692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2000" b="1">
                <a:solidFill>
                  <a:srgbClr val="22C55E"/>
                </a:solidFill>
                <a:latin typeface="Heebo"/>
              </a:rPr>
              <a:t>לא תיאוריה. בנייה אמיתית.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lid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9144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1">
                <a:solidFill>
                  <a:srgbClr val="22C55E"/>
                </a:solidFill>
                <a:latin typeface="Heebo"/>
              </a:rPr>
              <a:t>LIVE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Remotion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3600" b="0">
                <a:solidFill>
                  <a:srgbClr val="A09D96"/>
                </a:solidFill>
                <a:latin typeface="Heebo"/>
              </a:rPr>
              <a:t>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1828800"/>
            <a:ext cx="1371600" cy="1371600"/>
          </a:xfrm>
          <a:prstGeom prst="roundRect">
            <a:avLst>
              <a:gd name="adj" fmla="val 5000"/>
            </a:avLst>
          </a:prstGeom>
          <a:solidFill>
            <a:srgbClr val="252525"/>
          </a:solidFill>
          <a:ln w="1270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103120"/>
            <a:ext cx="137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4000" b="1">
                <a:solidFill>
                  <a:srgbClr val="FFFFFF"/>
                </a:solidFill>
                <a:latin typeface="Heebo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32918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sz="1600" b="0">
                <a:solidFill>
                  <a:srgbClr val="C5C1B9"/>
                </a:solidFill>
                <a:latin typeface="Heebo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11480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3200" b="1">
                <a:solidFill>
                  <a:srgbClr val="DCDAD5"/>
                </a:solidFill>
                <a:latin typeface="Heebo"/>
              </a:rPr>
              <a:t>עכשיו בונים את זה ביחד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800" b="0">
                <a:solidFill>
                  <a:srgbClr val="A09D96"/>
                </a:solidFill>
                <a:latin typeface="Heebo"/>
              </a:rPr>
              <a:t>מפתחים את הסרטון הראשון שלכם — מפרומפט עד MP4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669280" y="5577840"/>
            <a:ext cx="731520" cy="731520"/>
          </a:xfrm>
          <a:prstGeom prst="downArrow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